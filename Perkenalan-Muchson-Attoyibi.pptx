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singkat: nama, lalu satu kalimat posisi. 'Saya bekerja di sisi yang menjual program ke klien institusi, lalu memastikan klien itu puas dan kembali lagi.' Jangan membuka dengan gelar akademik; posisikan diri sebagai praktisi.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peran sekarang. Poin kunci: saya tidak hanya mengajar; saya memegang produk, tim BD, dan pengalaman pelanggan setelah closing. Contoh Sanggabiz: website adalah touchpoint pertama, customer service adalah touchpoint setelah pembelian — dua-duanya saya bangun.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Ceritakan alurnya sebagai perjalanan dari 'mengantar program' menjadi 'memegang hubungan dengan klien'. Di Alterra saya mengelola klien pemerintah dan lembaga internasional; di Digital Talent saya membuka kerja sama baru; sekarang saya memegang produk dan BD. Cukup 1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slide kredibilitas utama. Hubungkan: dalam bisnis pelatihan, 'pelanggan' adalah peserta dan lembaga yang membayar. Kelulusan dan completion adalah retensi; CSAT dan NPS adalah loyalitas; drop-out adalah churn. Saya memantau semua angka ini setiap cohort — jadi bahasa retensi bukan teori buat saya.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tipe klien: B2B dan B2G dengan banyak pemangku kepentingan — mirip dengan klien IT di Jerman yang memutuskan lewat komite. Ceritakan satu contoh nyata: bagaimana satu program berhasil membuka program lanjutan dengan partner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menunjukkan bahwa pengalaman saya mencakup seluruh siklus pelanggan, bukan hanya satu bagian. Paling penting: tahap Monitor dan Renew — di sinilah customer success bekerja. Contoh: sistem monitoring mingguan membuat peserta yang mulai tertinggal terdeteksi lebih awal, sehingga completion bisa mencapai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bahwa latar teknis saya membantu di sisi pelanggan: saya bisa membangun sendiri touchpoint digital (website, chatbot) dan otomatisasi follow-up, bukan hanya merancangnya di atas kertas.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Janji ke peserta. Siapkan satu cerita nyata untuk tiap poin sebelum kelas: satu akun yang diperpanjang, satu yang hilang, dan satu angka retensi yang pernah kamu laporkan ke manajemen.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perkenalan dan lempar ke peserta: minta setiap orang menyebut nama, peran, dan satu pelanggan yang masih mereka ingat (baik yang bertahan maupun yang pergi). Ini sekaligus pemanasan untuk topik retensi.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960120"/>
            <a:ext cx="3200400" cy="3200400"/>
          </a:xfrm>
          <a:prstGeom prst="ellipse">
            <a:avLst/>
          </a:prstGeom>
          <a:solidFill>
            <a:srgbClr val="333A43"/>
          </a:solidFill>
          <a:ln w="12700">
            <a:solidFill>
              <a:srgbClr val="333A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126480" y="96012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I'M YOUR FACILITATOR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Muchson Attoyibi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 · Business Development · Customer Success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building programmes, selling them to institutional clients, and keeping those clients coming back.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Malang, Indonesia  ·  working with clients in Indonesia and Germany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Product, pipeline, and the client after the deal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145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 (Academic)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decide which programmes we build, how they are priced and packaged, and when a product needs to change because clients stop buying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554480"/>
            <a:ext cx="640080" cy="640080"/>
          </a:xfrm>
          <a:prstGeom prst="ellipse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145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lead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92608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BD team reports to me. We qualify leads, write proposals, negotiate with institutional buyers and hand won accounts over to delivery.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7145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at Sanggabiz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92608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Sanggabiz website and set up its customer-service function: the first touchpoint a prospect sees and the channel clients use after they buy.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Muchson Attoyibi · Facilitator profile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delivering programmes to owning clients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25400">
            <a:solidFill>
              <a:srgbClr val="D8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029968"/>
            <a:ext cx="237744" cy="237744"/>
          </a:xfrm>
          <a:prstGeom prst="ellipse">
            <a:avLst/>
          </a:prstGeom>
          <a:solidFill>
            <a:srgbClr val="0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Alterra Academy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Development, then Academic Project Coordinator for national B2B and government programmes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9968" y="2029968"/>
            <a:ext cx="237744" cy="237744"/>
          </a:xfrm>
          <a:prstGeom prst="ellipse">
            <a:avLst/>
          </a:prstGeom>
          <a:solidFill>
            <a:srgbClr val="0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468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Talent Indonesia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7180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Trainer; opened new institutional partnerships and drafted proposals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2029968"/>
            <a:ext cx="237744" cy="237744"/>
          </a:xfrm>
          <a:prstGeom prst="ellipse">
            <a:avLst/>
          </a:prstGeom>
          <a:solidFill>
            <a:srgbClr val="0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468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Skola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97180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Developer; market research and product timelines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2029968"/>
            <a:ext cx="237744" cy="237744"/>
          </a:xfrm>
          <a:prstGeom prst="ellipse">
            <a:avLst/>
          </a:prstGeom>
          <a:solidFill>
            <a:srgbClr val="0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468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AITF Indonesia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97180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Manager; liaison between universities, Komdigi and the PMO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4768" y="2029968"/>
            <a:ext cx="237744" cy="237744"/>
          </a:xfrm>
          <a:prstGeom prst="ellipse">
            <a:avLst/>
          </a:prstGeom>
          <a:solidFill>
            <a:srgbClr val="0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2025–now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2468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Habmann AufstiegsAkademie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97180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for a German education provider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16368" y="2029968"/>
            <a:ext cx="237744" cy="237744"/>
          </a:xfrm>
          <a:prstGeom prst="ellipse">
            <a:avLst/>
          </a:prstGeom>
          <a:solidFill>
            <a:srgbClr val="8A5A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468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97180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BD team, and Sanggabiz website &amp; customer service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Muchson Attoyibi · Facilitator profile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7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MEASURED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is what I am measured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333A43"/>
          </a:solidFill>
          <a:ln w="12700">
            <a:solidFill>
              <a:srgbClr val="333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rate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learners, 20+ mentors, Kampus Merdeka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333A43"/>
          </a:solidFill>
          <a:ln w="12700">
            <a:solidFill>
              <a:srgbClr val="333A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4.9/5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across national programmes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333A43"/>
          </a:solidFill>
          <a:ln w="12700">
            <a:solidFill>
              <a:srgbClr val="333A4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completion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participants, AI talent programme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333A43"/>
          </a:solidFill>
          <a:ln w="12700">
            <a:solidFill>
              <a:srgbClr val="333A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4.8/5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satisfaction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graduation, Digital Talent Indonesia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every cohort: NPS, CSAT, drop-out rate and attendance, evaluated with the Kirkpatrick model.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AND PARTNERS I HAVE MANAGED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buyers, many stakeholders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 Merdeka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Prakerja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Women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UNHCR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103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Tanoto Foundation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1031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2103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Bappenas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103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Komdigi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21031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3EFE4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2103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Brawijaya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DFEEEB"/>
          </a:solidFill>
          <a:ln w="12700">
            <a:solidFill>
              <a:srgbClr val="DFEEE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15468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8872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groups, not single buyers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383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Ministries, foundations and universities decide in committees. I have presented to a Deputy Minister, the Head of Komdigi Center and a university Rector.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63440" y="3017520"/>
            <a:ext cx="548640" cy="548640"/>
          </a:xfrm>
          <a:prstGeom prst="ellipse">
            <a:avLst/>
          </a:prstGeom>
          <a:solidFill>
            <a:srgbClr val="DFEEEB"/>
          </a:solidFill>
          <a:ln w="12700">
            <a:solidFill>
              <a:srgbClr val="DFEEE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15468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9496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that renew and grow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394960" y="3383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national-level projects delivered; the partner network with government, NGOs and corporations kept expanding into new programmes.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Muchson Attoyibi · Facilitator profile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CUSTOMER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stage, from first contact to renewal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DFEEEB"/>
          </a:solidFill>
          <a:ln w="12700">
            <a:solidFill>
              <a:srgbClr val="DFEE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602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889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 to 20,000 views; market research on the edtech market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39696" y="141732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96896" y="1600200"/>
            <a:ext cx="640080" cy="640080"/>
          </a:xfrm>
          <a:prstGeom prst="ellipse">
            <a:avLst/>
          </a:prstGeom>
          <a:solidFill>
            <a:srgbClr val="DFEEEB"/>
          </a:solidFill>
          <a:ln w="12700">
            <a:solidFill>
              <a:srgbClr val="DFEE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16" y="17602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31136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276856" y="27889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proposals, pricing and negotiation with institutions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22192" y="141732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79392" y="1600200"/>
            <a:ext cx="640080" cy="640080"/>
          </a:xfrm>
          <a:prstGeom prst="ellipse">
            <a:avLst/>
          </a:prstGeom>
          <a:solidFill>
            <a:srgbClr val="DFEEEB"/>
          </a:solidFill>
          <a:ln w="12700">
            <a:solidFill>
              <a:srgbClr val="DFEE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12" y="17602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13632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959352" y="27889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onboarding, LMS set-up, account management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04688" y="141732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61888" y="1600200"/>
            <a:ext cx="640080" cy="640080"/>
          </a:xfrm>
          <a:prstGeom prst="ellipse">
            <a:avLst/>
          </a:prstGeom>
          <a:solidFill>
            <a:srgbClr val="DFEEEB"/>
          </a:solidFill>
          <a:ln w="12700">
            <a:solidFill>
              <a:srgbClr val="DFEE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7602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96128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41848" y="27889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backlogs, progress tracking, early drop-out signals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187184" y="141732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BF0D6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44384" y="1600200"/>
            <a:ext cx="640080" cy="640080"/>
          </a:xfrm>
          <a:prstGeom prst="ellipse">
            <a:avLst/>
          </a:prstGeom>
          <a:solidFill>
            <a:srgbClr val="8A5A0B"/>
          </a:solidFill>
          <a:ln w="12700">
            <a:solidFill>
              <a:srgbClr val="8A5A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17602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78624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324344" y="27889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that turned one programme into the next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Muchson Attoyibi · Facilitator profile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and tools I use with clients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NPS, CSAT, drop-out and attendance; Kirkpatrick four-level evaluation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645920"/>
            <a:ext cx="640080" cy="640080"/>
          </a:xfrm>
          <a:prstGeom prst="ellipse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project control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workflows, weekly backlogs, rule-based task tracking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061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AI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and Make.com workflows, AI chatbots, ChatGPT API and Vertex AI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9718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1B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061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touchpoints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and customer portals built with React and Next.js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Muchson Attoyibi · Facilitator profile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OUR SESSIONS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practitioner, not a textbook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630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cases from my own pipeline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won, accounts that renewed, and the ones that did not, and why.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414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871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client's side of the table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529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negotiate with institutional buyers and know what they ask.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6557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1129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you can defend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87705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report retention figures to management, so we work with evidence.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Muchson Attoyibi · Facilitator profile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7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a deal is the start of the relationship, not the end.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88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to know each other: your name, your role, and one customer you still remember.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Muchson Attoyibi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linkedin.com/in/muhammad-muchson-attoyibi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 Muchson Attoyibi — Facilitator Profile</dc:title>
  <dc:subject>PptxGenJS Presentation</dc:subject>
  <dc:creator>Muhammad Muchson Attoyibi</dc:creator>
  <cp:lastModifiedBy>Muhammad Muchson Attoyibi</cp:lastModifiedBy>
  <cp:revision>1</cp:revision>
  <dcterms:created xsi:type="dcterms:W3CDTF">2026-09-24T05:46:42Z</dcterms:created>
  <dcterms:modified xsi:type="dcterms:W3CDTF">2026-09-24T05:46:42Z</dcterms:modified>
</cp:coreProperties>
</file>