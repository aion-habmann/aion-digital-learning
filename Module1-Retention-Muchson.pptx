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santai. 'Hari ini kita tidak bicara tentang cara menjual, tapi tentang apa yang terjadi SETELAH kontrak ditandatangani dan proyek go-live.' Modul 1 berjalan dua hari: Day 1 memahami retensi &amp; perilaku beli, Day 2 menerapkan strategi penjualan berbasis perilaku secara sistematis.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dari sudut pandang praktisi, bukan akademisi. Poin kunci: 'Saya pegang produk dan tim BD. Artinya saya yang merasakan langsung ketika klien tidak memperpanjang kontrak.' Angka di kanan adalah angka retensi versi dunia pelatihan: kelulusan, CSAT, NPS, completion — semuanya soal menjaga pelanggan tetap tinggal sampai akhir. Sebut Sanggabiz: saya membangun website dan fungsi customer service-nya, jadi saya melihat titik kontak pelanggan dari dalam.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pengalaman BD kamu sendiri di sini (1–2 menit). Contoh: klien pelatihan B2B yang puas dengan programnya tapi tahun berikutnya membuka tender lagi. Tanyakan ke peserta: 'Siapa di perusahaan Anda yang memegang pelanggan setelah proyek selesai?' Biasanya jawabannya: tidak ada yang jelas. Itulah inti modul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peta besar. Setiap hari punya tiga route = tiga level: L1 membaca situasi (Diagnose), L2 memilih opsi terbaik dan membelanya dengan angka (Calculate), L3 memutuskan struktur dan siapa pemiliknya (Decide). Setiap route menghasilkan satu dokumen kerja sendiri. Tidak ada route yang dikunci — boleh lompat, tapi urutan 1→2→3 paling enak karena Route 2 dan 3 mengutip jawaban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kerja di situs. Yang penting ditekankan: (1) nama lengkap sama sepanjang minggu karena dipakai untuk mencocokkan submission; (2) tombol Check hanya memberi petunjuk, bukan jawaban; (3) istilah bergaris titik-titik bisa diklik untuk penjelasan sederhana. Untuk mentor: passcode di MentorBar mengisi semua jawaban model — jangan dibuka di depan peserta.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Kasus Day 1: TechSolutions GmbH, perusahaan proyek IT; 70% pelanggannya hanya beli sekali. Kessler Präzisionstechnik memberi nilai 4 dari 5, tapi 11 bulan kemudian membuka tender (Ausschreibung) untuk kontrak berikutnya. Tanya peserta: 'Kalau pelanggannya puas, kenapa dia pergi?' Biarkan mereka menebak dulu — jawabannya dibangun lewat Materi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isi materi Day 1. Materi A (60 menit): A2 dan A3 adalah jantungnya — puas ≠ loyal ≠ bertahan; retensi bisa karena emosi (percaya), ekonomi (biaya pindah), atau kontrak. Materi B: buying centre — setiap anggota komite peduli hal berbeda; empat motif; hitung TCO selama masa kontrak, risiko dinyatakan dalam euro tapi tidak dicampur ke kas. Materi C: keputusan dengan anggaran terbatas, sebut terus terang apa yang TIDAK didanai, dan siapa pemilik tiap langkah (RACI). Dari sisi BD: inilah bahasa yang dipakai klien B2B saat memutuskan.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Kasus Day 2: DigitalIT Solutions GmbH. Funnel tahunan dari 24.000 pengunjung hanya 4 kontrak. JANGAN sebutkan tahap mana yang paling bocor — itu jawaban Task 1.3. Cukup tanya: 'Di mana menurut Anda pelanggan hilang, dan bagaimana Anda membuktikannya?' Di sisi kanan: dua segmen dan tiga pengungkit yang akan dibandingkan di Task 2. Dari pengalaman BD: diskon terasa cepat, tapi sering membayar order yang memang akan datang.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lebih pendek (30 menit materi per route). Rantai di atas adalah logika pengendalian: tujuan → tindakan → KPI → siapa pemiliknya, seberapa sering dicek, dan kapan harus bertindak. Dari sisi head of product: ini persis cara saya mengelola tim BD — setiap program punya pemilik, target, dan pemicu tindakan. Tekankan B4: diskon lemah melawan churn karena hubungan, karena diskon dibayar juga untuk order yang sebenarnya akan datang tanpa diskon.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main. Tekankan bahwa tidak ada skor, tidak ada 'benar/salah' merah-hijau; aplikasi hanya memberi petunjuk berupa pertanyaan. Jumlah Check dicatat di export tapi tidak dihukum. Kalau peserta macet di soal hitungan, ada tombol 'Show where the numbers are' dan 'Show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ke pekerjaan peserta sendiri, bukan ke kasus. Dari sisi BD: poin 2 dan 4 adalah yang paling sering saya pakai tiap minggu — tahu siapa di komite pembeli yang sebenarnya memutuskan, dan siapa yang memegang klien setelah proyek selesai. Dokumen hasil export bisa dipakai lagi sebagai template di kantor.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Transisi ke materi. Minta semua peserta membuka Route 1, mengisi nama lengkap di participant strip, lalu mulai dari kartu A1. Pertanyaan pembuka untuk diskusi 2 menit: 'Pernahkah Anda kehilangan klien yang sebenarnya puas? Apa yang terjadi?'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72D"/>
        </a:solidFill>
      </p:bgPr>
    </p:bg>
    <p:spTree>
      <p:nvGrpSpPr>
        <p:cNvPr id="1" name=""/>
        <p:cNvGrpSpPr/>
        <p:nvPr/>
      </p:nvGrpSpPr>
      <p:grpSpPr>
        <a:xfrm>
          <a:off x="0" y="0"/>
          <a:ext cx="0" cy="0"/>
          <a:chOff x="0" y="0"/>
          <a:chExt cx="0" cy="0"/>
        </a:xfrm>
      </p:grpSpPr>
      <p:sp>
        <p:nvSpPr>
          <p:cNvPr id="2" name="Shape 0"/>
          <p:cNvSpPr/>
          <p:nvPr/>
        </p:nvSpPr>
        <p:spPr>
          <a:xfrm>
            <a:off x="6035040" y="1005840"/>
            <a:ext cx="3291840" cy="3291840"/>
          </a:xfrm>
          <a:prstGeom prst="ellipse">
            <a:avLst/>
          </a:prstGeom>
          <a:solidFill>
            <a:srgbClr val="333A43"/>
          </a:solidFill>
          <a:ln w="12700">
            <a:solidFill>
              <a:srgbClr val="333A43"/>
            </a:solidFill>
            <a:prstDash val="solid"/>
          </a:ln>
        </p:spPr>
      </p:sp>
      <p:pic>
        <p:nvPicPr>
          <p:cNvPr id="3" name="Image 0" descr="preencoded.png">    </p:cNvPr>
          <p:cNvPicPr>
            <a:picLocks noChangeAspect="1"/>
          </p:cNvPicPr>
          <p:nvPr/>
        </p:nvPicPr>
        <p:blipFill>
          <a:blip r:embed="rId1"/>
          <a:stretch>
            <a:fillRect/>
          </a:stretch>
        </p:blipFill>
        <p:spPr>
          <a:xfrm>
            <a:off x="6903720" y="1874520"/>
            <a:ext cx="1554480" cy="1554480"/>
          </a:xfrm>
          <a:prstGeom prst="rect">
            <a:avLst/>
          </a:prstGeom>
        </p:spPr>
      </p:pic>
      <p:sp>
        <p:nvSpPr>
          <p:cNvPr id="4" name="Text 1"/>
          <p:cNvSpPr txBox="1"/>
          <p:nvPr/>
        </p:nvSpPr>
        <p:spPr>
          <a:xfrm>
            <a:off x="548640" y="822960"/>
            <a:ext cx="5486400" cy="274320"/>
          </a:xfrm>
          <a:prstGeom prst="rect">
            <a:avLst/>
          </a:prstGeom>
          <a:noFill/>
          <a:ln/>
        </p:spPr>
        <p:txBody>
          <a:bodyPr wrap="square" lIns="0" tIns="0" rIns="0" bIns="0" rtlCol="0" anchor="ctr"/>
          <a:lstStyle/>
          <a:p>
            <a:pPr indent="0" marL="0">
              <a:buNone/>
            </a:pPr>
            <a:r>
              <a:rPr lang="en-US" sz="1200" b="1" spc="400" kern="0" dirty="0">
                <a:solidFill>
                  <a:srgbClr val="D99A2B"/>
                </a:solidFill>
                <a:latin typeface="Calibri" pitchFamily="34" charset="0"/>
                <a:ea typeface="Calibri" pitchFamily="34" charset="-122"/>
                <a:cs typeface="Calibri" pitchFamily="34" charset="-120"/>
              </a:rPr>
              <a:t>MODULE 1 · DAY 1–2</a:t>
            </a:r>
            <a:endParaRPr lang="en-US" sz="1200" dirty="0"/>
          </a:p>
        </p:txBody>
      </p:sp>
      <p:sp>
        <p:nvSpPr>
          <p:cNvPr id="5" name="Text 2"/>
          <p:cNvSpPr txBox="1"/>
          <p:nvPr/>
        </p:nvSpPr>
        <p:spPr>
          <a:xfrm>
            <a:off x="548640" y="1188720"/>
            <a:ext cx="548640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Keep the Customer After Go-Live</a:t>
            </a:r>
            <a:endParaRPr lang="en-US" sz="3800" dirty="0"/>
          </a:p>
        </p:txBody>
      </p:sp>
      <p:sp>
        <p:nvSpPr>
          <p:cNvPr id="6" name="Text 3"/>
          <p:cNvSpPr txBox="1"/>
          <p:nvPr/>
        </p:nvSpPr>
        <p:spPr>
          <a:xfrm>
            <a:off x="548640" y="2606040"/>
            <a:ext cx="5486400" cy="365760"/>
          </a:xfrm>
          <a:prstGeom prst="rect">
            <a:avLst/>
          </a:prstGeom>
          <a:noFill/>
          <a:ln/>
        </p:spPr>
        <p:txBody>
          <a:bodyPr wrap="square" lIns="0" tIns="0" rIns="0" bIns="0" rtlCol="0" anchor="ctr"/>
          <a:lstStyle/>
          <a:p>
            <a:pPr indent="0" marL="0">
              <a:buNone/>
            </a:pPr>
            <a:r>
              <a:rPr lang="en-US" sz="1600" dirty="0">
                <a:solidFill>
                  <a:srgbClr val="D9DDE2"/>
                </a:solidFill>
                <a:latin typeface="Calibri" pitchFamily="34" charset="0"/>
                <a:ea typeface="Calibri" pitchFamily="34" charset="-122"/>
                <a:cs typeface="Calibri" pitchFamily="34" charset="-120"/>
              </a:rPr>
              <a:t>Customer Retention &amp; Buying Behaviour in B2B IT Sales</a:t>
            </a:r>
            <a:endParaRPr lang="en-US" sz="1600" dirty="0"/>
          </a:p>
        </p:txBody>
      </p:sp>
      <p:sp>
        <p:nvSpPr>
          <p:cNvPr id="7" name="Text 4"/>
          <p:cNvSpPr txBox="1"/>
          <p:nvPr/>
        </p:nvSpPr>
        <p:spPr>
          <a:xfrm>
            <a:off x="548640" y="3749040"/>
            <a:ext cx="54864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Muhammad Muchson Attoyibi</a:t>
            </a:r>
            <a:endParaRPr lang="en-US" sz="1500" dirty="0"/>
          </a:p>
          <a:p>
            <a:pPr indent="0" marL="0">
              <a:buNone/>
            </a:pPr>
            <a:r>
              <a:rPr lang="en-US" sz="1200" dirty="0">
                <a:solidFill>
                  <a:srgbClr val="B8BEC6"/>
                </a:solidFill>
                <a:latin typeface="Calibri" pitchFamily="34" charset="0"/>
                <a:ea typeface="Calibri" pitchFamily="34" charset="-122"/>
                <a:cs typeface="Calibri" pitchFamily="34" charset="-120"/>
              </a:rPr>
              <a:t>Head of Product (Academic) · Business Development · Facilitator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YOUR FACILITATOR</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I sit where clients are won and lost</a:t>
            </a:r>
            <a:endParaRPr lang="en-US" sz="3000" dirty="0"/>
          </a:p>
        </p:txBody>
      </p:sp>
      <p:sp>
        <p:nvSpPr>
          <p:cNvPr id="4" name="Text 2"/>
          <p:cNvSpPr txBox="1"/>
          <p:nvPr/>
        </p:nvSpPr>
        <p:spPr>
          <a:xfrm>
            <a:off x="457200" y="1417320"/>
            <a:ext cx="4206240" cy="3108960"/>
          </a:xfrm>
          <a:prstGeom prst="rect">
            <a:avLst/>
          </a:prstGeom>
          <a:noFill/>
          <a:ln/>
        </p:spPr>
        <p:txBody>
          <a:bodyPr wrap="square" lIns="0" tIns="0" rIns="0" bIns="0" rtlCol="0" anchor="t"/>
          <a:lstStyle/>
          <a:p>
            <a:pPr indent="0" marL="0">
              <a:spcAft>
                <a:spcPts val="600"/>
              </a:spcAft>
              <a:buNone/>
            </a:pPr>
            <a:r>
              <a:rPr lang="en-US" sz="1400" b="1" dirty="0">
                <a:solidFill>
                  <a:srgbClr val="8A5A0B"/>
                </a:solidFill>
                <a:latin typeface="Calibri" pitchFamily="34" charset="0"/>
                <a:ea typeface="Calibri" pitchFamily="34" charset="-122"/>
                <a:cs typeface="Calibri" pitchFamily="34" charset="-120"/>
              </a:rPr>
              <a:t>What I do today</a:t>
            </a:r>
            <a:endParaRPr lang="en-US" sz="1300" dirty="0"/>
          </a:p>
          <a:p>
            <a:pPr marL="342900" indent="-342900">
              <a:spcAft>
                <a:spcPts val="600"/>
              </a:spcAft>
              <a:buSzPct val="100000"/>
              <a:buChar char="•"/>
            </a:pPr>
            <a:r>
              <a:rPr lang="en-US" sz="1300" dirty="0">
                <a:solidFill>
                  <a:srgbClr val="1F2328"/>
                </a:solidFill>
                <a:latin typeface="Calibri" pitchFamily="34" charset="0"/>
                <a:ea typeface="Calibri" pitchFamily="34" charset="-122"/>
                <a:cs typeface="Calibri" pitchFamily="34" charset="-120"/>
              </a:rPr>
              <a:t>Head of Product in an academic division — I build training products and lead the Business Development team that sells them.</a:t>
            </a:r>
            <a:endParaRPr lang="en-US" sz="1300" dirty="0"/>
          </a:p>
          <a:p>
            <a:pPr marL="342900" indent="-342900">
              <a:spcAft>
                <a:spcPts val="600"/>
              </a:spcAft>
              <a:buSzPct val="100000"/>
              <a:buChar char="•"/>
            </a:pPr>
            <a:r>
              <a:rPr lang="en-US" sz="1300" dirty="0">
                <a:solidFill>
                  <a:srgbClr val="1F2328"/>
                </a:solidFill>
                <a:latin typeface="Calibri" pitchFamily="34" charset="0"/>
                <a:ea typeface="Calibri" pitchFamily="34" charset="-122"/>
                <a:cs typeface="Calibri" pitchFamily="34" charset="-120"/>
              </a:rPr>
              <a:t>Built the Sanggabiz website and set up its customer-service function.</a:t>
            </a:r>
            <a:endParaRPr lang="en-US" sz="1300" dirty="0"/>
          </a:p>
          <a:p>
            <a:pPr marL="342900" indent="-342900">
              <a:spcAft>
                <a:spcPts val="600"/>
              </a:spcAft>
              <a:buSzPct val="100000"/>
              <a:buChar char="•"/>
            </a:pPr>
            <a:r>
              <a:rPr lang="en-US" sz="1300" dirty="0">
                <a:solidFill>
                  <a:srgbClr val="1F2328"/>
                </a:solidFill>
                <a:latin typeface="Calibri" pitchFamily="34" charset="0"/>
                <a:ea typeface="Calibri" pitchFamily="34" charset="-122"/>
                <a:cs typeface="Calibri" pitchFamily="34" charset="-120"/>
              </a:rPr>
              <a:t>Lecturer at Habmann AufstiegsAkademie (Germany, remote) since 2025.</a:t>
            </a:r>
            <a:endParaRPr lang="en-US" sz="1300" dirty="0"/>
          </a:p>
          <a:p>
            <a:pPr marL="342900" indent="-342900">
              <a:spcAft>
                <a:spcPts val="600"/>
              </a:spcAft>
              <a:buSzPct val="100000"/>
              <a:buChar char="•"/>
            </a:pPr>
            <a:r>
              <a:rPr lang="en-US" sz="1300" dirty="0">
                <a:solidFill>
                  <a:srgbClr val="1F2328"/>
                </a:solidFill>
                <a:latin typeface="Calibri" pitchFamily="34" charset="0"/>
                <a:ea typeface="Calibri" pitchFamily="34" charset="-122"/>
                <a:cs typeface="Calibri" pitchFamily="34" charset="-120"/>
              </a:rPr>
              <a:t>Before: B2B and B2G programmes with Kampus Merdeka, Prakerja, UN Women, UNHCR, Tanoto Foundation and Bappenas.</a:t>
            </a:r>
            <a:endParaRPr lang="en-US" sz="1300" dirty="0"/>
          </a:p>
        </p:txBody>
      </p:sp>
      <p:sp>
        <p:nvSpPr>
          <p:cNvPr id="5" name="Shape 3"/>
          <p:cNvSpPr/>
          <p:nvPr/>
        </p:nvSpPr>
        <p:spPr>
          <a:xfrm>
            <a:off x="4983480" y="1463040"/>
            <a:ext cx="1783080" cy="1417320"/>
          </a:xfrm>
          <a:prstGeom prst="roundRect">
            <a:avLst>
              <a:gd name="adj" fmla="val 5161"/>
            </a:avLst>
          </a:prstGeom>
          <a:solidFill>
            <a:srgbClr val="F3EFE4"/>
          </a:solidFill>
          <a:ln w="9525">
            <a:solidFill>
              <a:srgbClr val="D8D1BF"/>
            </a:solidFill>
            <a:prstDash val="solid"/>
          </a:ln>
        </p:spPr>
      </p:sp>
      <p:sp>
        <p:nvSpPr>
          <p:cNvPr id="6" name="Text 4"/>
          <p:cNvSpPr txBox="1"/>
          <p:nvPr/>
        </p:nvSpPr>
        <p:spPr>
          <a:xfrm>
            <a:off x="5120640" y="1572768"/>
            <a:ext cx="1508760" cy="502920"/>
          </a:xfrm>
          <a:prstGeom prst="rect">
            <a:avLst/>
          </a:prstGeom>
          <a:noFill/>
          <a:ln/>
        </p:spPr>
        <p:txBody>
          <a:bodyPr wrap="square" lIns="0" tIns="0" rIns="0" bIns="0" rtlCol="0" anchor="ctr"/>
          <a:lstStyle/>
          <a:p>
            <a:pPr indent="0" marL="0">
              <a:buNone/>
            </a:pPr>
            <a:r>
              <a:rPr lang="en-US" sz="2800" b="1" dirty="0">
                <a:solidFill>
                  <a:srgbClr val="8A5A0B"/>
                </a:solidFill>
                <a:latin typeface="Cambria" pitchFamily="34" charset="0"/>
                <a:ea typeface="Cambria" pitchFamily="34" charset="-122"/>
                <a:cs typeface="Cambria" pitchFamily="34" charset="-120"/>
              </a:rPr>
              <a:t>97%</a:t>
            </a:r>
            <a:endParaRPr lang="en-US" sz="2800" dirty="0"/>
          </a:p>
        </p:txBody>
      </p:sp>
      <p:sp>
        <p:nvSpPr>
          <p:cNvPr id="7" name="Text 5"/>
          <p:cNvSpPr txBox="1"/>
          <p:nvPr/>
        </p:nvSpPr>
        <p:spPr>
          <a:xfrm>
            <a:off x="5120640" y="2103120"/>
            <a:ext cx="1508760" cy="685800"/>
          </a:xfrm>
          <a:prstGeom prst="rect">
            <a:avLst/>
          </a:prstGeom>
          <a:noFill/>
          <a:ln/>
        </p:spPr>
        <p:txBody>
          <a:bodyPr wrap="square" lIns="0" tIns="0" rIns="0" bIns="0" rtlCol="0" anchor="t"/>
          <a:lstStyle/>
          <a:p>
            <a:pPr indent="0" marL="0">
              <a:buNone/>
            </a:pPr>
            <a:r>
              <a:rPr lang="en-US" sz="1000" dirty="0">
                <a:solidFill>
                  <a:srgbClr val="59606A"/>
                </a:solidFill>
                <a:latin typeface="Calibri" pitchFamily="34" charset="0"/>
                <a:ea typeface="Calibri" pitchFamily="34" charset="-122"/>
                <a:cs typeface="Calibri" pitchFamily="34" charset="-120"/>
              </a:rPr>
              <a:t>graduation, 400+ learners and 20+ mentors in one national programme</a:t>
            </a:r>
            <a:endParaRPr lang="en-US" sz="1000" dirty="0"/>
          </a:p>
        </p:txBody>
      </p:sp>
      <p:sp>
        <p:nvSpPr>
          <p:cNvPr id="8" name="Shape 6"/>
          <p:cNvSpPr/>
          <p:nvPr/>
        </p:nvSpPr>
        <p:spPr>
          <a:xfrm>
            <a:off x="6903720" y="1463040"/>
            <a:ext cx="1783080" cy="1417320"/>
          </a:xfrm>
          <a:prstGeom prst="roundRect">
            <a:avLst>
              <a:gd name="adj" fmla="val 5161"/>
            </a:avLst>
          </a:prstGeom>
          <a:solidFill>
            <a:srgbClr val="F3EFE4"/>
          </a:solidFill>
          <a:ln w="9525">
            <a:solidFill>
              <a:srgbClr val="D8D1BF"/>
            </a:solidFill>
            <a:prstDash val="solid"/>
          </a:ln>
        </p:spPr>
      </p:sp>
      <p:sp>
        <p:nvSpPr>
          <p:cNvPr id="9" name="Text 7"/>
          <p:cNvSpPr txBox="1"/>
          <p:nvPr/>
        </p:nvSpPr>
        <p:spPr>
          <a:xfrm>
            <a:off x="7040880" y="1572768"/>
            <a:ext cx="1508760" cy="502920"/>
          </a:xfrm>
          <a:prstGeom prst="rect">
            <a:avLst/>
          </a:prstGeom>
          <a:noFill/>
          <a:ln/>
        </p:spPr>
        <p:txBody>
          <a:bodyPr wrap="square" lIns="0" tIns="0" rIns="0" bIns="0" rtlCol="0" anchor="ctr"/>
          <a:lstStyle/>
          <a:p>
            <a:pPr indent="0" marL="0">
              <a:buNone/>
            </a:pPr>
            <a:r>
              <a:rPr lang="en-US" sz="2800" b="1" dirty="0">
                <a:solidFill>
                  <a:srgbClr val="8A5A0B"/>
                </a:solidFill>
                <a:latin typeface="Cambria" pitchFamily="34" charset="0"/>
                <a:ea typeface="Cambria" pitchFamily="34" charset="-122"/>
                <a:cs typeface="Cambria" pitchFamily="34" charset="-120"/>
              </a:rPr>
              <a:t>4.9/5</a:t>
            </a:r>
            <a:endParaRPr lang="en-US" sz="2800" dirty="0"/>
          </a:p>
        </p:txBody>
      </p:sp>
      <p:sp>
        <p:nvSpPr>
          <p:cNvPr id="10" name="Text 8"/>
          <p:cNvSpPr txBox="1"/>
          <p:nvPr/>
        </p:nvSpPr>
        <p:spPr>
          <a:xfrm>
            <a:off x="7040880" y="2103120"/>
            <a:ext cx="1508760" cy="685800"/>
          </a:xfrm>
          <a:prstGeom prst="rect">
            <a:avLst/>
          </a:prstGeom>
          <a:noFill/>
          <a:ln/>
        </p:spPr>
        <p:txBody>
          <a:bodyPr wrap="square" lIns="0" tIns="0" rIns="0" bIns="0" rtlCol="0" anchor="t"/>
          <a:lstStyle/>
          <a:p>
            <a:pPr indent="0" marL="0">
              <a:buNone/>
            </a:pPr>
            <a:r>
              <a:rPr lang="en-US" sz="1000" dirty="0">
                <a:solidFill>
                  <a:srgbClr val="59606A"/>
                </a:solidFill>
                <a:latin typeface="Calibri" pitchFamily="34" charset="0"/>
                <a:ea typeface="Calibri" pitchFamily="34" charset="-122"/>
                <a:cs typeface="Calibri" pitchFamily="34" charset="-120"/>
              </a:rPr>
              <a:t>average satisfaction (CSAT), tracked with NPS and drop-out rate</a:t>
            </a:r>
            <a:endParaRPr lang="en-US" sz="1000" dirty="0"/>
          </a:p>
        </p:txBody>
      </p:sp>
      <p:sp>
        <p:nvSpPr>
          <p:cNvPr id="11" name="Shape 9"/>
          <p:cNvSpPr/>
          <p:nvPr/>
        </p:nvSpPr>
        <p:spPr>
          <a:xfrm>
            <a:off x="4983480" y="3063240"/>
            <a:ext cx="1783080" cy="1417320"/>
          </a:xfrm>
          <a:prstGeom prst="roundRect">
            <a:avLst>
              <a:gd name="adj" fmla="val 5161"/>
            </a:avLst>
          </a:prstGeom>
          <a:solidFill>
            <a:srgbClr val="F3EFE4"/>
          </a:solidFill>
          <a:ln w="9525">
            <a:solidFill>
              <a:srgbClr val="D8D1BF"/>
            </a:solidFill>
            <a:prstDash val="solid"/>
          </a:ln>
        </p:spPr>
      </p:sp>
      <p:sp>
        <p:nvSpPr>
          <p:cNvPr id="12" name="Text 10"/>
          <p:cNvSpPr txBox="1"/>
          <p:nvPr/>
        </p:nvSpPr>
        <p:spPr>
          <a:xfrm>
            <a:off x="5120640" y="3172968"/>
            <a:ext cx="1508760" cy="502920"/>
          </a:xfrm>
          <a:prstGeom prst="rect">
            <a:avLst/>
          </a:prstGeom>
          <a:noFill/>
          <a:ln/>
        </p:spPr>
        <p:txBody>
          <a:bodyPr wrap="square" lIns="0" tIns="0" rIns="0" bIns="0" rtlCol="0" anchor="ctr"/>
          <a:lstStyle/>
          <a:p>
            <a:pPr indent="0" marL="0">
              <a:buNone/>
            </a:pPr>
            <a:r>
              <a:rPr lang="en-US" sz="2800" b="1" dirty="0">
                <a:solidFill>
                  <a:srgbClr val="8A5A0B"/>
                </a:solidFill>
                <a:latin typeface="Cambria" pitchFamily="34" charset="0"/>
                <a:ea typeface="Cambria" pitchFamily="34" charset="-122"/>
                <a:cs typeface="Cambria" pitchFamily="34" charset="-120"/>
              </a:rPr>
              <a:t>100%</a:t>
            </a:r>
            <a:endParaRPr lang="en-US" sz="2800" dirty="0"/>
          </a:p>
        </p:txBody>
      </p:sp>
      <p:sp>
        <p:nvSpPr>
          <p:cNvPr id="13" name="Text 11"/>
          <p:cNvSpPr txBox="1"/>
          <p:nvPr/>
        </p:nvSpPr>
        <p:spPr>
          <a:xfrm>
            <a:off x="5120640" y="3703320"/>
            <a:ext cx="1508760" cy="685800"/>
          </a:xfrm>
          <a:prstGeom prst="rect">
            <a:avLst/>
          </a:prstGeom>
          <a:noFill/>
          <a:ln/>
        </p:spPr>
        <p:txBody>
          <a:bodyPr wrap="square" lIns="0" tIns="0" rIns="0" bIns="0" rtlCol="0" anchor="t"/>
          <a:lstStyle/>
          <a:p>
            <a:pPr indent="0" marL="0">
              <a:buNone/>
            </a:pPr>
            <a:r>
              <a:rPr lang="en-US" sz="1000" dirty="0">
                <a:solidFill>
                  <a:srgbClr val="59606A"/>
                </a:solidFill>
                <a:latin typeface="Calibri" pitchFamily="34" charset="0"/>
                <a:ea typeface="Calibri" pitchFamily="34" charset="-122"/>
                <a:cs typeface="Calibri" pitchFamily="34" charset="-120"/>
              </a:rPr>
              <a:t>module completion, 150 participants in an AI talent programme</a:t>
            </a:r>
            <a:endParaRPr lang="en-US" sz="1000" dirty="0"/>
          </a:p>
        </p:txBody>
      </p:sp>
      <p:sp>
        <p:nvSpPr>
          <p:cNvPr id="14" name="Shape 12"/>
          <p:cNvSpPr/>
          <p:nvPr/>
        </p:nvSpPr>
        <p:spPr>
          <a:xfrm>
            <a:off x="6903720" y="3063240"/>
            <a:ext cx="1783080" cy="1417320"/>
          </a:xfrm>
          <a:prstGeom prst="roundRect">
            <a:avLst>
              <a:gd name="adj" fmla="val 5161"/>
            </a:avLst>
          </a:prstGeom>
          <a:solidFill>
            <a:srgbClr val="F3EFE4"/>
          </a:solidFill>
          <a:ln w="9525">
            <a:solidFill>
              <a:srgbClr val="D8D1BF"/>
            </a:solidFill>
            <a:prstDash val="solid"/>
          </a:ln>
        </p:spPr>
      </p:sp>
      <p:sp>
        <p:nvSpPr>
          <p:cNvPr id="15" name="Text 13"/>
          <p:cNvSpPr txBox="1"/>
          <p:nvPr/>
        </p:nvSpPr>
        <p:spPr>
          <a:xfrm>
            <a:off x="7040880" y="3172968"/>
            <a:ext cx="1508760" cy="502920"/>
          </a:xfrm>
          <a:prstGeom prst="rect">
            <a:avLst/>
          </a:prstGeom>
          <a:noFill/>
          <a:ln/>
        </p:spPr>
        <p:txBody>
          <a:bodyPr wrap="square" lIns="0" tIns="0" rIns="0" bIns="0" rtlCol="0" anchor="ctr"/>
          <a:lstStyle/>
          <a:p>
            <a:pPr indent="0" marL="0">
              <a:buNone/>
            </a:pPr>
            <a:r>
              <a:rPr lang="en-US" sz="2800" b="1" dirty="0">
                <a:solidFill>
                  <a:srgbClr val="8A5A0B"/>
                </a:solidFill>
                <a:latin typeface="Cambria" pitchFamily="34" charset="0"/>
                <a:ea typeface="Cambria" pitchFamily="34" charset="-122"/>
                <a:cs typeface="Cambria" pitchFamily="34" charset="-120"/>
              </a:rPr>
              <a:t>4+</a:t>
            </a:r>
            <a:endParaRPr lang="en-US" sz="2800" dirty="0"/>
          </a:p>
        </p:txBody>
      </p:sp>
      <p:sp>
        <p:nvSpPr>
          <p:cNvPr id="16" name="Text 14"/>
          <p:cNvSpPr txBox="1"/>
          <p:nvPr/>
        </p:nvSpPr>
        <p:spPr>
          <a:xfrm>
            <a:off x="7040880" y="3703320"/>
            <a:ext cx="1508760" cy="685800"/>
          </a:xfrm>
          <a:prstGeom prst="rect">
            <a:avLst/>
          </a:prstGeom>
          <a:noFill/>
          <a:ln/>
        </p:spPr>
        <p:txBody>
          <a:bodyPr wrap="square" lIns="0" tIns="0" rIns="0" bIns="0" rtlCol="0" anchor="t"/>
          <a:lstStyle/>
          <a:p>
            <a:pPr indent="0" marL="0">
              <a:buNone/>
            </a:pPr>
            <a:r>
              <a:rPr lang="en-US" sz="1000" dirty="0">
                <a:solidFill>
                  <a:srgbClr val="59606A"/>
                </a:solidFill>
                <a:latin typeface="Calibri" pitchFamily="34" charset="0"/>
                <a:ea typeface="Calibri" pitchFamily="34" charset="-122"/>
                <a:cs typeface="Calibri" pitchFamily="34" charset="-120"/>
              </a:rPr>
              <a:t>national-level client projects delivered end to end</a:t>
            </a:r>
            <a:endParaRPr lang="en-US" sz="1000" dirty="0"/>
          </a:p>
        </p:txBody>
      </p:sp>
      <p:sp>
        <p:nvSpPr>
          <p:cNvPr id="17" name="Text 1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WHY THIS MODULE</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Three things BD teaches you the hard way</a:t>
            </a:r>
            <a:endParaRPr lang="en-US" sz="3000" dirty="0"/>
          </a:p>
        </p:txBody>
      </p:sp>
      <p:sp>
        <p:nvSpPr>
          <p:cNvPr id="4" name="Shape 2"/>
          <p:cNvSpPr/>
          <p:nvPr/>
        </p:nvSpPr>
        <p:spPr>
          <a:xfrm>
            <a:off x="502920" y="1463040"/>
            <a:ext cx="731520" cy="731520"/>
          </a:xfrm>
          <a:prstGeom prst="ellipse">
            <a:avLst/>
          </a:prstGeom>
          <a:solidFill>
            <a:srgbClr val="FBF0D6"/>
          </a:solidFill>
          <a:ln w="12700">
            <a:solidFill>
              <a:srgbClr val="FBF0D6"/>
            </a:solidFill>
            <a:prstDash val="solid"/>
          </a:ln>
        </p:spPr>
      </p:sp>
      <p:pic>
        <p:nvPicPr>
          <p:cNvPr id="5" name="Image 0" descr="preencoded.png">    </p:cNvPr>
          <p:cNvPicPr>
            <a:picLocks noChangeAspect="1"/>
          </p:cNvPicPr>
          <p:nvPr/>
        </p:nvPicPr>
        <p:blipFill>
          <a:blip r:embed="rId1"/>
          <a:stretch>
            <a:fillRect/>
          </a:stretch>
        </p:blipFill>
        <p:spPr>
          <a:xfrm>
            <a:off x="685800" y="1645920"/>
            <a:ext cx="365760" cy="365760"/>
          </a:xfrm>
          <a:prstGeom prst="rect">
            <a:avLst/>
          </a:prstGeom>
        </p:spPr>
      </p:pic>
      <p:sp>
        <p:nvSpPr>
          <p:cNvPr id="6" name="Text 3"/>
          <p:cNvSpPr txBox="1"/>
          <p:nvPr/>
        </p:nvSpPr>
        <p:spPr>
          <a:xfrm>
            <a:off x="1463040" y="1463040"/>
            <a:ext cx="7132320" cy="320040"/>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A signed deal is not a kept customer</a:t>
            </a:r>
            <a:endParaRPr lang="en-US" sz="1600" dirty="0"/>
          </a:p>
        </p:txBody>
      </p:sp>
      <p:sp>
        <p:nvSpPr>
          <p:cNvPr id="7" name="Text 4"/>
          <p:cNvSpPr txBox="1"/>
          <p:nvPr/>
        </p:nvSpPr>
        <p:spPr>
          <a:xfrm>
            <a:off x="1463040" y="1810512"/>
            <a:ext cx="7132320" cy="502920"/>
          </a:xfrm>
          <a:prstGeom prst="rect">
            <a:avLst/>
          </a:prstGeom>
          <a:noFill/>
          <a:ln/>
        </p:spPr>
        <p:txBody>
          <a:bodyPr wrap="square" lIns="0" tIns="0" rIns="0" bIns="0" rtlCol="0" anchor="t"/>
          <a:lstStyle/>
          <a:p>
            <a:pPr indent="0" marL="0">
              <a:buNone/>
            </a:pPr>
            <a:r>
              <a:rPr lang="en-US" sz="1250" dirty="0">
                <a:solidFill>
                  <a:srgbClr val="59606A"/>
                </a:solidFill>
                <a:latin typeface="Calibri" pitchFamily="34" charset="0"/>
                <a:ea typeface="Calibri" pitchFamily="34" charset="-122"/>
                <a:cs typeface="Calibri" pitchFamily="34" charset="-120"/>
              </a:rPr>
              <a:t>In project business the invoices stop at go-live. If nobody plans what comes next, the next contract goes to tender.</a:t>
            </a:r>
            <a:endParaRPr lang="en-US" sz="1250" dirty="0"/>
          </a:p>
        </p:txBody>
      </p:sp>
      <p:sp>
        <p:nvSpPr>
          <p:cNvPr id="8" name="Shape 5"/>
          <p:cNvSpPr/>
          <p:nvPr/>
        </p:nvSpPr>
        <p:spPr>
          <a:xfrm>
            <a:off x="502920" y="2514600"/>
            <a:ext cx="731520" cy="731520"/>
          </a:xfrm>
          <a:prstGeom prst="ellipse">
            <a:avLst/>
          </a:prstGeom>
          <a:solidFill>
            <a:srgbClr val="FBF0D6"/>
          </a:solidFill>
          <a:ln w="12700">
            <a:solidFill>
              <a:srgbClr val="FBF0D6"/>
            </a:solidFill>
            <a:prstDash val="solid"/>
          </a:ln>
        </p:spPr>
      </p:sp>
      <p:pic>
        <p:nvPicPr>
          <p:cNvPr id="9" name="Image 1" descr="preencoded.png">    </p:cNvPr>
          <p:cNvPicPr>
            <a:picLocks noChangeAspect="1"/>
          </p:cNvPicPr>
          <p:nvPr/>
        </p:nvPicPr>
        <p:blipFill>
          <a:blip r:embed="rId2"/>
          <a:stretch>
            <a:fillRect/>
          </a:stretch>
        </p:blipFill>
        <p:spPr>
          <a:xfrm>
            <a:off x="685800" y="2697480"/>
            <a:ext cx="365760" cy="365760"/>
          </a:xfrm>
          <a:prstGeom prst="rect">
            <a:avLst/>
          </a:prstGeom>
        </p:spPr>
      </p:pic>
      <p:sp>
        <p:nvSpPr>
          <p:cNvPr id="10" name="Text 6"/>
          <p:cNvSpPr txBox="1"/>
          <p:nvPr/>
        </p:nvSpPr>
        <p:spPr>
          <a:xfrm>
            <a:off x="1463040" y="2514600"/>
            <a:ext cx="7132320" cy="320040"/>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Nobody owns the customer after go-live</a:t>
            </a:r>
            <a:endParaRPr lang="en-US" sz="1600" dirty="0"/>
          </a:p>
        </p:txBody>
      </p:sp>
      <p:sp>
        <p:nvSpPr>
          <p:cNvPr id="11" name="Text 7"/>
          <p:cNvSpPr txBox="1"/>
          <p:nvPr/>
        </p:nvSpPr>
        <p:spPr>
          <a:xfrm>
            <a:off x="1463040" y="2862072"/>
            <a:ext cx="7132320" cy="502920"/>
          </a:xfrm>
          <a:prstGeom prst="rect">
            <a:avLst/>
          </a:prstGeom>
          <a:noFill/>
          <a:ln/>
        </p:spPr>
        <p:txBody>
          <a:bodyPr wrap="square" lIns="0" tIns="0" rIns="0" bIns="0" rtlCol="0" anchor="t"/>
          <a:lstStyle/>
          <a:p>
            <a:pPr indent="0" marL="0">
              <a:buNone/>
            </a:pPr>
            <a:r>
              <a:rPr lang="en-US" sz="1250" dirty="0">
                <a:solidFill>
                  <a:srgbClr val="59606A"/>
                </a:solidFill>
                <a:latin typeface="Calibri" pitchFamily="34" charset="0"/>
                <a:ea typeface="Calibri" pitchFamily="34" charset="-122"/>
                <a:cs typeface="Calibri" pitchFamily="34" charset="-120"/>
              </a:rPr>
              <a:t>Sales has moved on, delivery has closed the project. That gap is where the next order is won or lost.</a:t>
            </a:r>
            <a:endParaRPr lang="en-US" sz="1250" dirty="0"/>
          </a:p>
        </p:txBody>
      </p:sp>
      <p:sp>
        <p:nvSpPr>
          <p:cNvPr id="12" name="Shape 8"/>
          <p:cNvSpPr/>
          <p:nvPr/>
        </p:nvSpPr>
        <p:spPr>
          <a:xfrm>
            <a:off x="502920" y="3566160"/>
            <a:ext cx="731520" cy="731520"/>
          </a:xfrm>
          <a:prstGeom prst="ellipse">
            <a:avLst/>
          </a:prstGeom>
          <a:solidFill>
            <a:srgbClr val="FBF0D6"/>
          </a:solidFill>
          <a:ln w="12700">
            <a:solidFill>
              <a:srgbClr val="FBF0D6"/>
            </a:solidFill>
            <a:prstDash val="solid"/>
          </a:ln>
        </p:spPr>
      </p:sp>
      <p:pic>
        <p:nvPicPr>
          <p:cNvPr id="13" name="Image 2" descr="preencoded.png">    </p:cNvPr>
          <p:cNvPicPr>
            <a:picLocks noChangeAspect="1"/>
          </p:cNvPicPr>
          <p:nvPr/>
        </p:nvPicPr>
        <p:blipFill>
          <a:blip r:embed="rId3"/>
          <a:stretch>
            <a:fillRect/>
          </a:stretch>
        </p:blipFill>
        <p:spPr>
          <a:xfrm>
            <a:off x="685800" y="3749040"/>
            <a:ext cx="365760" cy="365760"/>
          </a:xfrm>
          <a:prstGeom prst="rect">
            <a:avLst/>
          </a:prstGeom>
        </p:spPr>
      </p:pic>
      <p:sp>
        <p:nvSpPr>
          <p:cNvPr id="14" name="Text 9"/>
          <p:cNvSpPr txBox="1"/>
          <p:nvPr/>
        </p:nvSpPr>
        <p:spPr>
          <a:xfrm>
            <a:off x="1463040" y="3566160"/>
            <a:ext cx="7132320" cy="320040"/>
          </a:xfrm>
          <a:prstGeom prst="rect">
            <a:avLst/>
          </a:prstGeom>
          <a:noFill/>
          <a:ln/>
        </p:spPr>
        <p:txBody>
          <a:bodyPr wrap="square" lIns="0" tIns="0" rIns="0" bIns="0" rtlCol="0" anchor="ctr"/>
          <a:lstStyle/>
          <a:p>
            <a:pPr indent="0" marL="0">
              <a:buNone/>
            </a:pPr>
            <a:r>
              <a:rPr lang="en-US" sz="1600" b="1" dirty="0">
                <a:solidFill>
                  <a:srgbClr val="1F2328"/>
                </a:solidFill>
                <a:latin typeface="Calibri" pitchFamily="34" charset="0"/>
                <a:ea typeface="Calibri" pitchFamily="34" charset="-122"/>
                <a:cs typeface="Calibri" pitchFamily="34" charset="-120"/>
              </a:rPr>
              <a:t>A price objection is often a trust objection</a:t>
            </a:r>
            <a:endParaRPr lang="en-US" sz="1600" dirty="0"/>
          </a:p>
        </p:txBody>
      </p:sp>
      <p:sp>
        <p:nvSpPr>
          <p:cNvPr id="15" name="Text 10"/>
          <p:cNvSpPr txBox="1"/>
          <p:nvPr/>
        </p:nvSpPr>
        <p:spPr>
          <a:xfrm>
            <a:off x="1463040" y="3913632"/>
            <a:ext cx="7132320" cy="502920"/>
          </a:xfrm>
          <a:prstGeom prst="rect">
            <a:avLst/>
          </a:prstGeom>
          <a:noFill/>
          <a:ln/>
        </p:spPr>
        <p:txBody>
          <a:bodyPr wrap="square" lIns="0" tIns="0" rIns="0" bIns="0" rtlCol="0" anchor="t"/>
          <a:lstStyle/>
          <a:p>
            <a:pPr indent="0" marL="0">
              <a:buNone/>
            </a:pPr>
            <a:r>
              <a:rPr lang="en-US" sz="1250" dirty="0">
                <a:solidFill>
                  <a:srgbClr val="59606A"/>
                </a:solidFill>
                <a:latin typeface="Calibri" pitchFamily="34" charset="0"/>
                <a:ea typeface="Calibri" pitchFamily="34" charset="-122"/>
                <a:cs typeface="Calibri" pitchFamily="34" charset="-120"/>
              </a:rPr>
              <a:t>Buyers weigh price, trust, risk and benefit together. A discount answers only one of the four.</a:t>
            </a:r>
            <a:endParaRPr lang="en-US" sz="1250" dirty="0"/>
          </a:p>
        </p:txBody>
      </p:sp>
      <p:sp>
        <p:nvSpPr>
          <p:cNvPr id="16" name="Text 11"/>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MODULE MAP</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Two days, three levels, six documents</a:t>
            </a:r>
            <a:endParaRPr lang="en-US" sz="3000" dirty="0"/>
          </a:p>
        </p:txBody>
      </p:sp>
      <p:sp>
        <p:nvSpPr>
          <p:cNvPr id="4" name="Shape 2"/>
          <p:cNvSpPr/>
          <p:nvPr/>
        </p:nvSpPr>
        <p:spPr>
          <a:xfrm>
            <a:off x="1417320" y="1371600"/>
            <a:ext cx="2377440" cy="566928"/>
          </a:xfrm>
          <a:prstGeom prst="roundRect">
            <a:avLst>
              <a:gd name="adj" fmla="val 9677"/>
            </a:avLst>
          </a:prstGeom>
          <a:solidFill>
            <a:srgbClr val="23272D"/>
          </a:solidFill>
          <a:ln w="12700">
            <a:solidFill>
              <a:srgbClr val="23272D"/>
            </a:solidFill>
            <a:prstDash val="solid"/>
          </a:ln>
        </p:spPr>
      </p:sp>
      <p:sp>
        <p:nvSpPr>
          <p:cNvPr id="5" name="Text 3"/>
          <p:cNvSpPr txBox="1"/>
          <p:nvPr/>
        </p:nvSpPr>
        <p:spPr>
          <a:xfrm>
            <a:off x="1527048" y="1399032"/>
            <a:ext cx="219456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Route 1 · Diagnose</a:t>
            </a:r>
            <a:endParaRPr lang="en-US" sz="1250" dirty="0"/>
          </a:p>
          <a:p>
            <a:pPr indent="0" marL="0">
              <a:buNone/>
            </a:pPr>
            <a:r>
              <a:rPr lang="en-US" sz="1000" dirty="0">
                <a:solidFill>
                  <a:srgbClr val="D99A2B"/>
                </a:solidFill>
                <a:latin typeface="Calibri" pitchFamily="34" charset="0"/>
                <a:ea typeface="Calibri" pitchFamily="34" charset="-122"/>
                <a:cs typeface="Calibri" pitchFamily="34" charset="-120"/>
              </a:rPr>
              <a:t>L1 · Knowledge</a:t>
            </a:r>
            <a:endParaRPr lang="en-US" sz="1250" dirty="0"/>
          </a:p>
        </p:txBody>
      </p:sp>
      <p:sp>
        <p:nvSpPr>
          <p:cNvPr id="6" name="Shape 4"/>
          <p:cNvSpPr/>
          <p:nvPr/>
        </p:nvSpPr>
        <p:spPr>
          <a:xfrm>
            <a:off x="3886200" y="1371600"/>
            <a:ext cx="2377440" cy="566928"/>
          </a:xfrm>
          <a:prstGeom prst="roundRect">
            <a:avLst>
              <a:gd name="adj" fmla="val 9677"/>
            </a:avLst>
          </a:prstGeom>
          <a:solidFill>
            <a:srgbClr val="23272D"/>
          </a:solidFill>
          <a:ln w="12700">
            <a:solidFill>
              <a:srgbClr val="23272D"/>
            </a:solidFill>
            <a:prstDash val="solid"/>
          </a:ln>
        </p:spPr>
      </p:sp>
      <p:sp>
        <p:nvSpPr>
          <p:cNvPr id="7" name="Text 5"/>
          <p:cNvSpPr txBox="1"/>
          <p:nvPr/>
        </p:nvSpPr>
        <p:spPr>
          <a:xfrm>
            <a:off x="3995928" y="1399032"/>
            <a:ext cx="219456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Route 2 · Calculate</a:t>
            </a:r>
            <a:endParaRPr lang="en-US" sz="1250" dirty="0"/>
          </a:p>
          <a:p>
            <a:pPr indent="0" marL="0">
              <a:buNone/>
            </a:pPr>
            <a:r>
              <a:rPr lang="en-US" sz="1000" dirty="0">
                <a:solidFill>
                  <a:srgbClr val="D99A2B"/>
                </a:solidFill>
                <a:latin typeface="Calibri" pitchFamily="34" charset="0"/>
                <a:ea typeface="Calibri" pitchFamily="34" charset="-122"/>
                <a:cs typeface="Calibri" pitchFamily="34" charset="-120"/>
              </a:rPr>
              <a:t>L2 · Application</a:t>
            </a:r>
            <a:endParaRPr lang="en-US" sz="1250" dirty="0"/>
          </a:p>
        </p:txBody>
      </p:sp>
      <p:sp>
        <p:nvSpPr>
          <p:cNvPr id="8" name="Shape 6"/>
          <p:cNvSpPr/>
          <p:nvPr/>
        </p:nvSpPr>
        <p:spPr>
          <a:xfrm>
            <a:off x="6355080" y="1371600"/>
            <a:ext cx="2377440" cy="566928"/>
          </a:xfrm>
          <a:prstGeom prst="roundRect">
            <a:avLst>
              <a:gd name="adj" fmla="val 9677"/>
            </a:avLst>
          </a:prstGeom>
          <a:solidFill>
            <a:srgbClr val="23272D"/>
          </a:solidFill>
          <a:ln w="12700">
            <a:solidFill>
              <a:srgbClr val="23272D"/>
            </a:solidFill>
            <a:prstDash val="solid"/>
          </a:ln>
        </p:spPr>
      </p:sp>
      <p:sp>
        <p:nvSpPr>
          <p:cNvPr id="9" name="Text 7"/>
          <p:cNvSpPr txBox="1"/>
          <p:nvPr/>
        </p:nvSpPr>
        <p:spPr>
          <a:xfrm>
            <a:off x="6464808" y="1399032"/>
            <a:ext cx="219456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Route 3 · Decide</a:t>
            </a:r>
            <a:endParaRPr lang="en-US" sz="1250" dirty="0"/>
          </a:p>
          <a:p>
            <a:pPr indent="0" marL="0">
              <a:buNone/>
            </a:pPr>
            <a:r>
              <a:rPr lang="en-US" sz="1000" dirty="0">
                <a:solidFill>
                  <a:srgbClr val="D99A2B"/>
                </a:solidFill>
                <a:latin typeface="Calibri" pitchFamily="34" charset="0"/>
                <a:ea typeface="Calibri" pitchFamily="34" charset="-122"/>
                <a:cs typeface="Calibri" pitchFamily="34" charset="-120"/>
              </a:rPr>
              <a:t>L3 · Management decision</a:t>
            </a:r>
            <a:endParaRPr lang="en-US" sz="1250" dirty="0"/>
          </a:p>
        </p:txBody>
      </p:sp>
      <p:sp>
        <p:nvSpPr>
          <p:cNvPr id="10" name="Text 8"/>
          <p:cNvSpPr txBox="1"/>
          <p:nvPr/>
        </p:nvSpPr>
        <p:spPr>
          <a:xfrm>
            <a:off x="457200" y="2057400"/>
            <a:ext cx="914400" cy="1051560"/>
          </a:xfrm>
          <a:prstGeom prst="rect">
            <a:avLst/>
          </a:prstGeom>
          <a:noFill/>
          <a:ln/>
        </p:spPr>
        <p:txBody>
          <a:bodyPr wrap="square" lIns="0" tIns="0" rIns="0" bIns="0" rtlCol="0" anchor="t"/>
          <a:lstStyle/>
          <a:p>
            <a:pPr indent="0" marL="0">
              <a:buNone/>
            </a:pPr>
            <a:r>
              <a:rPr lang="en-US" sz="1800" b="1" dirty="0">
                <a:solidFill>
                  <a:srgbClr val="8A5A0B"/>
                </a:solidFill>
                <a:latin typeface="Cambria" pitchFamily="34" charset="0"/>
                <a:ea typeface="Cambria" pitchFamily="34" charset="-122"/>
                <a:cs typeface="Cambria" pitchFamily="34" charset="-120"/>
              </a:rPr>
              <a:t>Day 1</a:t>
            </a:r>
            <a:endParaRPr lang="en-US" sz="1800" dirty="0"/>
          </a:p>
          <a:p>
            <a:pPr indent="0" marL="0">
              <a:buNone/>
            </a:pPr>
            <a:r>
              <a:rPr lang="en-US" sz="900" dirty="0">
                <a:solidFill>
                  <a:srgbClr val="59606A"/>
                </a:solidFill>
                <a:latin typeface="Calibri" pitchFamily="34" charset="0"/>
                <a:ea typeface="Calibri" pitchFamily="34" charset="-122"/>
                <a:cs typeface="Calibri" pitchFamily="34" charset="-120"/>
              </a:rPr>
              <a:t>Understand retention &amp; buying behaviour</a:t>
            </a:r>
            <a:endParaRPr lang="en-US" sz="1800" dirty="0"/>
          </a:p>
        </p:txBody>
      </p:sp>
      <p:sp>
        <p:nvSpPr>
          <p:cNvPr id="11" name="Shape 9"/>
          <p:cNvSpPr/>
          <p:nvPr/>
        </p:nvSpPr>
        <p:spPr>
          <a:xfrm>
            <a:off x="1417320" y="2057400"/>
            <a:ext cx="2377440" cy="1051560"/>
          </a:xfrm>
          <a:prstGeom prst="roundRect">
            <a:avLst>
              <a:gd name="adj" fmla="val 6957"/>
            </a:avLst>
          </a:prstGeom>
          <a:solidFill>
            <a:srgbClr val="FFFFFF"/>
          </a:solidFill>
          <a:ln w="9525">
            <a:solidFill>
              <a:srgbClr val="D8D1BF"/>
            </a:solidFill>
            <a:prstDash val="solid"/>
          </a:ln>
        </p:spPr>
      </p:sp>
      <p:sp>
        <p:nvSpPr>
          <p:cNvPr id="12" name="Text 10"/>
          <p:cNvSpPr txBox="1"/>
          <p:nvPr/>
        </p:nvSpPr>
        <p:spPr>
          <a:xfrm>
            <a:off x="1527048" y="214884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Why a 4/5 customer tendered anyway</a:t>
            </a:r>
            <a:endParaRPr lang="en-US" sz="1200" dirty="0"/>
          </a:p>
        </p:txBody>
      </p:sp>
      <p:sp>
        <p:nvSpPr>
          <p:cNvPr id="13" name="Text 11"/>
          <p:cNvSpPr txBox="1"/>
          <p:nvPr/>
        </p:nvSpPr>
        <p:spPr>
          <a:xfrm>
            <a:off x="1527048" y="274320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Diagnostic Note</a:t>
            </a:r>
            <a:endParaRPr lang="en-US" sz="1000" dirty="0"/>
          </a:p>
        </p:txBody>
      </p:sp>
      <p:sp>
        <p:nvSpPr>
          <p:cNvPr id="14" name="Shape 12"/>
          <p:cNvSpPr/>
          <p:nvPr/>
        </p:nvSpPr>
        <p:spPr>
          <a:xfrm>
            <a:off x="3886200" y="2057400"/>
            <a:ext cx="2377440" cy="1051560"/>
          </a:xfrm>
          <a:prstGeom prst="roundRect">
            <a:avLst>
              <a:gd name="adj" fmla="val 6957"/>
            </a:avLst>
          </a:prstGeom>
          <a:solidFill>
            <a:srgbClr val="F3EFE4"/>
          </a:solidFill>
          <a:ln w="9525">
            <a:solidFill>
              <a:srgbClr val="D8D1BF"/>
            </a:solidFill>
            <a:prstDash val="solid"/>
          </a:ln>
        </p:spPr>
      </p:sp>
      <p:sp>
        <p:nvSpPr>
          <p:cNvPr id="15" name="Text 13"/>
          <p:cNvSpPr txBox="1"/>
          <p:nvPr/>
        </p:nvSpPr>
        <p:spPr>
          <a:xfrm>
            <a:off x="3995928" y="214884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Two offers, one buying committee</a:t>
            </a:r>
            <a:endParaRPr lang="en-US" sz="1200" dirty="0"/>
          </a:p>
        </p:txBody>
      </p:sp>
      <p:sp>
        <p:nvSpPr>
          <p:cNvPr id="16" name="Text 14"/>
          <p:cNvSpPr txBox="1"/>
          <p:nvPr/>
        </p:nvSpPr>
        <p:spPr>
          <a:xfrm>
            <a:off x="3995928" y="274320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Calculation Note</a:t>
            </a:r>
            <a:endParaRPr lang="en-US" sz="1000" dirty="0"/>
          </a:p>
        </p:txBody>
      </p:sp>
      <p:sp>
        <p:nvSpPr>
          <p:cNvPr id="17" name="Shape 15"/>
          <p:cNvSpPr/>
          <p:nvPr/>
        </p:nvSpPr>
        <p:spPr>
          <a:xfrm>
            <a:off x="6355080" y="2057400"/>
            <a:ext cx="2377440" cy="1051560"/>
          </a:xfrm>
          <a:prstGeom prst="roundRect">
            <a:avLst>
              <a:gd name="adj" fmla="val 6957"/>
            </a:avLst>
          </a:prstGeom>
          <a:solidFill>
            <a:srgbClr val="FFFFFF"/>
          </a:solidFill>
          <a:ln w="9525">
            <a:solidFill>
              <a:srgbClr val="D8D1BF"/>
            </a:solidFill>
            <a:prstDash val="solid"/>
          </a:ln>
        </p:spPr>
      </p:sp>
      <p:sp>
        <p:nvSpPr>
          <p:cNvPr id="18" name="Text 16"/>
          <p:cNvSpPr txBox="1"/>
          <p:nvPr/>
        </p:nvSpPr>
        <p:spPr>
          <a:xfrm>
            <a:off x="6464808" y="214884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€200,000 for 42 one-off customers</a:t>
            </a:r>
            <a:endParaRPr lang="en-US" sz="1200" dirty="0"/>
          </a:p>
        </p:txBody>
      </p:sp>
      <p:sp>
        <p:nvSpPr>
          <p:cNvPr id="19" name="Text 17"/>
          <p:cNvSpPr txBox="1"/>
          <p:nvPr/>
        </p:nvSpPr>
        <p:spPr>
          <a:xfrm>
            <a:off x="6464808" y="274320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Decision Memo</a:t>
            </a:r>
            <a:endParaRPr lang="en-US" sz="1000" dirty="0"/>
          </a:p>
        </p:txBody>
      </p:sp>
      <p:sp>
        <p:nvSpPr>
          <p:cNvPr id="20" name="Text 18"/>
          <p:cNvSpPr txBox="1"/>
          <p:nvPr/>
        </p:nvSpPr>
        <p:spPr>
          <a:xfrm>
            <a:off x="457200" y="3246120"/>
            <a:ext cx="914400" cy="1051560"/>
          </a:xfrm>
          <a:prstGeom prst="rect">
            <a:avLst/>
          </a:prstGeom>
          <a:noFill/>
          <a:ln/>
        </p:spPr>
        <p:txBody>
          <a:bodyPr wrap="square" lIns="0" tIns="0" rIns="0" bIns="0" rtlCol="0" anchor="t"/>
          <a:lstStyle/>
          <a:p>
            <a:pPr indent="0" marL="0">
              <a:buNone/>
            </a:pPr>
            <a:r>
              <a:rPr lang="en-US" sz="1800" b="1" dirty="0">
                <a:solidFill>
                  <a:srgbClr val="8A5A0B"/>
                </a:solidFill>
                <a:latin typeface="Cambria" pitchFamily="34" charset="0"/>
                <a:ea typeface="Cambria" pitchFamily="34" charset="-122"/>
                <a:cs typeface="Cambria" pitchFamily="34" charset="-120"/>
              </a:rPr>
              <a:t>Day 2</a:t>
            </a:r>
            <a:endParaRPr lang="en-US" sz="1800" dirty="0"/>
          </a:p>
          <a:p>
            <a:pPr indent="0" marL="0">
              <a:buNone/>
            </a:pPr>
            <a:r>
              <a:rPr lang="en-US" sz="900" dirty="0">
                <a:solidFill>
                  <a:srgbClr val="59606A"/>
                </a:solidFill>
                <a:latin typeface="Calibri" pitchFamily="34" charset="0"/>
                <a:ea typeface="Calibri" pitchFamily="34" charset="-122"/>
                <a:cs typeface="Calibri" pitchFamily="34" charset="-120"/>
              </a:rPr>
              <a:t>Apply behaviour-based sales systematically</a:t>
            </a:r>
            <a:endParaRPr lang="en-US" sz="1800" dirty="0"/>
          </a:p>
        </p:txBody>
      </p:sp>
      <p:sp>
        <p:nvSpPr>
          <p:cNvPr id="21" name="Shape 19"/>
          <p:cNvSpPr/>
          <p:nvPr/>
        </p:nvSpPr>
        <p:spPr>
          <a:xfrm>
            <a:off x="1417320" y="3246120"/>
            <a:ext cx="2377440" cy="1051560"/>
          </a:xfrm>
          <a:prstGeom prst="roundRect">
            <a:avLst>
              <a:gd name="adj" fmla="val 6957"/>
            </a:avLst>
          </a:prstGeom>
          <a:solidFill>
            <a:srgbClr val="FFFFFF"/>
          </a:solidFill>
          <a:ln w="9525">
            <a:solidFill>
              <a:srgbClr val="D8D1BF"/>
            </a:solidFill>
            <a:prstDash val="solid"/>
          </a:ln>
        </p:spPr>
      </p:sp>
      <p:sp>
        <p:nvSpPr>
          <p:cNvPr id="22" name="Text 20"/>
          <p:cNvSpPr txBox="1"/>
          <p:nvPr/>
        </p:nvSpPr>
        <p:spPr>
          <a:xfrm>
            <a:off x="1527048" y="333756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Where the funnel leaks</a:t>
            </a:r>
            <a:endParaRPr lang="en-US" sz="1200" dirty="0"/>
          </a:p>
        </p:txBody>
      </p:sp>
      <p:sp>
        <p:nvSpPr>
          <p:cNvPr id="23" name="Text 21"/>
          <p:cNvSpPr txBox="1"/>
          <p:nvPr/>
        </p:nvSpPr>
        <p:spPr>
          <a:xfrm>
            <a:off x="1527048" y="393192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Diagnostic Note</a:t>
            </a:r>
            <a:endParaRPr lang="en-US" sz="1000" dirty="0"/>
          </a:p>
        </p:txBody>
      </p:sp>
      <p:sp>
        <p:nvSpPr>
          <p:cNvPr id="24" name="Shape 22"/>
          <p:cNvSpPr/>
          <p:nvPr/>
        </p:nvSpPr>
        <p:spPr>
          <a:xfrm>
            <a:off x="3886200" y="3246120"/>
            <a:ext cx="2377440" cy="1051560"/>
          </a:xfrm>
          <a:prstGeom prst="roundRect">
            <a:avLst>
              <a:gd name="adj" fmla="val 6957"/>
            </a:avLst>
          </a:prstGeom>
          <a:solidFill>
            <a:srgbClr val="F3EFE4"/>
          </a:solidFill>
          <a:ln w="9525">
            <a:solidFill>
              <a:srgbClr val="D8D1BF"/>
            </a:solidFill>
            <a:prstDash val="solid"/>
          </a:ln>
        </p:spPr>
      </p:sp>
      <p:sp>
        <p:nvSpPr>
          <p:cNvPr id="25" name="Text 23"/>
          <p:cNvSpPr txBox="1"/>
          <p:nvPr/>
        </p:nvSpPr>
        <p:spPr>
          <a:xfrm>
            <a:off x="3995928" y="333756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Which lever for which segment</a:t>
            </a:r>
            <a:endParaRPr lang="en-US" sz="1200" dirty="0"/>
          </a:p>
        </p:txBody>
      </p:sp>
      <p:sp>
        <p:nvSpPr>
          <p:cNvPr id="26" name="Text 24"/>
          <p:cNvSpPr txBox="1"/>
          <p:nvPr/>
        </p:nvSpPr>
        <p:spPr>
          <a:xfrm>
            <a:off x="3995928" y="393192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Calculation Note</a:t>
            </a:r>
            <a:endParaRPr lang="en-US" sz="1000" dirty="0"/>
          </a:p>
        </p:txBody>
      </p:sp>
      <p:sp>
        <p:nvSpPr>
          <p:cNvPr id="27" name="Shape 25"/>
          <p:cNvSpPr/>
          <p:nvPr/>
        </p:nvSpPr>
        <p:spPr>
          <a:xfrm>
            <a:off x="6355080" y="3246120"/>
            <a:ext cx="2377440" cy="1051560"/>
          </a:xfrm>
          <a:prstGeom prst="roundRect">
            <a:avLst>
              <a:gd name="adj" fmla="val 6957"/>
            </a:avLst>
          </a:prstGeom>
          <a:solidFill>
            <a:srgbClr val="FFFFFF"/>
          </a:solidFill>
          <a:ln w="9525">
            <a:solidFill>
              <a:srgbClr val="D8D1BF"/>
            </a:solidFill>
            <a:prstDash val="solid"/>
          </a:ln>
        </p:spPr>
      </p:sp>
      <p:sp>
        <p:nvSpPr>
          <p:cNvPr id="28" name="Text 26"/>
          <p:cNvSpPr txBox="1"/>
          <p:nvPr/>
        </p:nvSpPr>
        <p:spPr>
          <a:xfrm>
            <a:off x="6464808" y="3337560"/>
            <a:ext cx="2157984" cy="548640"/>
          </a:xfrm>
          <a:prstGeom prst="rect">
            <a:avLst/>
          </a:prstGeom>
          <a:noFill/>
          <a:ln/>
        </p:spPr>
        <p:txBody>
          <a:bodyPr wrap="square" lIns="0" tIns="0" rIns="0" bIns="0" rtlCol="0" anchor="t"/>
          <a:lstStyle/>
          <a:p>
            <a:pPr indent="0" marL="0">
              <a:buNone/>
            </a:pPr>
            <a:r>
              <a:rPr lang="en-US" sz="1200" b="1" dirty="0">
                <a:solidFill>
                  <a:srgbClr val="1F2328"/>
                </a:solidFill>
                <a:latin typeface="Calibri" pitchFamily="34" charset="0"/>
                <a:ea typeface="Calibri" pitchFamily="34" charset="-122"/>
                <a:cs typeface="Calibri" pitchFamily="34" charset="-120"/>
              </a:rPr>
              <a:t>€150,000, four months, KPI owners</a:t>
            </a:r>
            <a:endParaRPr lang="en-US" sz="1200" dirty="0"/>
          </a:p>
        </p:txBody>
      </p:sp>
      <p:sp>
        <p:nvSpPr>
          <p:cNvPr id="29" name="Text 27"/>
          <p:cNvSpPr txBox="1"/>
          <p:nvPr/>
        </p:nvSpPr>
        <p:spPr>
          <a:xfrm>
            <a:off x="6464808" y="3931920"/>
            <a:ext cx="2157984" cy="274320"/>
          </a:xfrm>
          <a:prstGeom prst="rect">
            <a:avLst/>
          </a:prstGeom>
          <a:noFill/>
          <a:ln/>
        </p:spPr>
        <p:txBody>
          <a:bodyPr wrap="square" lIns="0" tIns="0" rIns="0" bIns="0" rtlCol="0" anchor="ctr"/>
          <a:lstStyle/>
          <a:p>
            <a:pPr indent="0" marL="0">
              <a:buNone/>
            </a:pPr>
            <a:r>
              <a:rPr lang="en-US" sz="1000" dirty="0">
                <a:solidFill>
                  <a:srgbClr val="0F6B6B"/>
                </a:solidFill>
                <a:latin typeface="Calibri" pitchFamily="34" charset="0"/>
                <a:ea typeface="Calibri" pitchFamily="34" charset="-122"/>
                <a:cs typeface="Calibri" pitchFamily="34" charset="-120"/>
              </a:rPr>
              <a:t>→ Decision Memo</a:t>
            </a:r>
            <a:endParaRPr lang="en-US" sz="1000" dirty="0"/>
          </a:p>
        </p:txBody>
      </p:sp>
      <p:sp>
        <p:nvSpPr>
          <p:cNvPr id="30" name="Text 28"/>
          <p:cNvSpPr txBox="1"/>
          <p:nvPr/>
        </p:nvSpPr>
        <p:spPr>
          <a:xfrm>
            <a:off x="457200" y="4480560"/>
            <a:ext cx="8229600" cy="256032"/>
          </a:xfrm>
          <a:prstGeom prst="rect">
            <a:avLst/>
          </a:prstGeom>
          <a:noFill/>
          <a:ln/>
        </p:spPr>
        <p:txBody>
          <a:bodyPr wrap="square" lIns="0" tIns="0" rIns="0" bIns="0" rtlCol="0" anchor="ctr"/>
          <a:lstStyle/>
          <a:p>
            <a:pPr indent="0" marL="0">
              <a:buNone/>
            </a:pPr>
            <a:r>
              <a:rPr lang="en-US" sz="1000" i="1" dirty="0">
                <a:solidFill>
                  <a:srgbClr val="59606A"/>
                </a:solidFill>
                <a:latin typeface="Calibri" pitchFamily="34" charset="0"/>
                <a:ea typeface="Calibri" pitchFamily="34" charset="-122"/>
                <a:cs typeface="Calibri" pitchFamily="34" charset="-120"/>
              </a:rPr>
              <a:t>Timing — Day 1: 60 min material + 30 / 15 / 20 min task   ·   Day 2: 30 min material + 15 min task each</a:t>
            </a:r>
            <a:endParaRPr lang="en-US" sz="1000" dirty="0"/>
          </a:p>
        </p:txBody>
      </p:sp>
      <p:sp>
        <p:nvSpPr>
          <p:cNvPr id="31" name="Text 2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HOW EACH ROUTE RUNS</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Material first, then one task, then one export</a:t>
            </a:r>
            <a:endParaRPr lang="en-US" sz="3000" dirty="0"/>
          </a:p>
        </p:txBody>
      </p:sp>
      <p:sp>
        <p:nvSpPr>
          <p:cNvPr id="4" name="Shape 2"/>
          <p:cNvSpPr/>
          <p:nvPr/>
        </p:nvSpPr>
        <p:spPr>
          <a:xfrm>
            <a:off x="457200" y="1463040"/>
            <a:ext cx="1874520" cy="2148840"/>
          </a:xfrm>
          <a:prstGeom prst="roundRect">
            <a:avLst>
              <a:gd name="adj" fmla="val 3902"/>
            </a:avLst>
          </a:prstGeom>
          <a:solidFill>
            <a:srgbClr val="FFFFFF"/>
          </a:solidFill>
          <a:ln w="9525">
            <a:solidFill>
              <a:srgbClr val="D8D1BF"/>
            </a:solidFill>
            <a:prstDash val="solid"/>
          </a:ln>
        </p:spPr>
      </p:sp>
      <p:sp>
        <p:nvSpPr>
          <p:cNvPr id="5" name="Shape 3"/>
          <p:cNvSpPr/>
          <p:nvPr/>
        </p:nvSpPr>
        <p:spPr>
          <a:xfrm>
            <a:off x="594360" y="1600200"/>
            <a:ext cx="548640" cy="548640"/>
          </a:xfrm>
          <a:prstGeom prst="ellipse">
            <a:avLst/>
          </a:prstGeom>
          <a:solidFill>
            <a:srgbClr val="DFEEEB"/>
          </a:solidFill>
          <a:ln w="12700">
            <a:solidFill>
              <a:srgbClr val="DFEEEB"/>
            </a:solidFill>
            <a:prstDash val="solid"/>
          </a:ln>
        </p:spPr>
      </p:sp>
      <p:pic>
        <p:nvPicPr>
          <p:cNvPr id="6" name="Image 0" descr="preencoded.png">    </p:cNvPr>
          <p:cNvPicPr>
            <a:picLocks noChangeAspect="1"/>
          </p:cNvPicPr>
          <p:nvPr/>
        </p:nvPicPr>
        <p:blipFill>
          <a:blip r:embed="rId1"/>
          <a:stretch>
            <a:fillRect/>
          </a:stretch>
        </p:blipFill>
        <p:spPr>
          <a:xfrm>
            <a:off x="731520" y="1737360"/>
            <a:ext cx="274320" cy="274320"/>
          </a:xfrm>
          <a:prstGeom prst="rect">
            <a:avLst/>
          </a:prstGeom>
        </p:spPr>
      </p:pic>
      <p:sp>
        <p:nvSpPr>
          <p:cNvPr id="7" name="Text 4"/>
          <p:cNvSpPr txBox="1"/>
          <p:nvPr/>
        </p:nvSpPr>
        <p:spPr>
          <a:xfrm>
            <a:off x="594360" y="2240280"/>
            <a:ext cx="164592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1  Material</a:t>
            </a:r>
            <a:endParaRPr lang="en-US" sz="1400" dirty="0"/>
          </a:p>
        </p:txBody>
      </p:sp>
      <p:sp>
        <p:nvSpPr>
          <p:cNvPr id="8" name="Text 5"/>
          <p:cNvSpPr txBox="1"/>
          <p:nvPr/>
        </p:nvSpPr>
        <p:spPr>
          <a:xfrm>
            <a:off x="594360" y="2606040"/>
            <a:ext cx="1645920" cy="91440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Study cards with a diagram, plain-words box and decision rules. I lead this part.</a:t>
            </a:r>
            <a:endParaRPr lang="en-US" sz="1100" dirty="0"/>
          </a:p>
        </p:txBody>
      </p:sp>
      <p:sp>
        <p:nvSpPr>
          <p:cNvPr id="9" name="Text 6"/>
          <p:cNvSpPr txBox="1"/>
          <p:nvPr/>
        </p:nvSpPr>
        <p:spPr>
          <a:xfrm>
            <a:off x="2331720" y="2286000"/>
            <a:ext cx="228600" cy="365760"/>
          </a:xfrm>
          <a:prstGeom prst="rect">
            <a:avLst/>
          </a:prstGeom>
          <a:noFill/>
          <a:ln/>
        </p:spPr>
        <p:txBody>
          <a:bodyPr wrap="square" lIns="0" tIns="0" rIns="0" bIns="0" rtlCol="0" anchor="ctr"/>
          <a:lstStyle/>
          <a:p>
            <a:pPr algn="ctr" indent="0" marL="0">
              <a:buNone/>
            </a:pPr>
            <a:r>
              <a:rPr lang="en-US" sz="2200" b="1" dirty="0">
                <a:solidFill>
                  <a:srgbClr val="D99A2B"/>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560320" y="1463040"/>
            <a:ext cx="1874520" cy="2148840"/>
          </a:xfrm>
          <a:prstGeom prst="roundRect">
            <a:avLst>
              <a:gd name="adj" fmla="val 3902"/>
            </a:avLst>
          </a:prstGeom>
          <a:solidFill>
            <a:srgbClr val="FFFFFF"/>
          </a:solidFill>
          <a:ln w="9525">
            <a:solidFill>
              <a:srgbClr val="D8D1BF"/>
            </a:solidFill>
            <a:prstDash val="solid"/>
          </a:ln>
        </p:spPr>
      </p:sp>
      <p:sp>
        <p:nvSpPr>
          <p:cNvPr id="11" name="Shape 8"/>
          <p:cNvSpPr/>
          <p:nvPr/>
        </p:nvSpPr>
        <p:spPr>
          <a:xfrm>
            <a:off x="2697480" y="1600200"/>
            <a:ext cx="548640" cy="548640"/>
          </a:xfrm>
          <a:prstGeom prst="ellipse">
            <a:avLst/>
          </a:prstGeom>
          <a:solidFill>
            <a:srgbClr val="DFEEEB"/>
          </a:solidFill>
          <a:ln w="12700">
            <a:solidFill>
              <a:srgbClr val="DFEEEB"/>
            </a:solidFill>
            <a:prstDash val="solid"/>
          </a:ln>
        </p:spPr>
      </p:sp>
      <p:pic>
        <p:nvPicPr>
          <p:cNvPr id="12" name="Image 1" descr="preencoded.png">    </p:cNvPr>
          <p:cNvPicPr>
            <a:picLocks noChangeAspect="1"/>
          </p:cNvPicPr>
          <p:nvPr/>
        </p:nvPicPr>
        <p:blipFill>
          <a:blip r:embed="rId2"/>
          <a:stretch>
            <a:fillRect/>
          </a:stretch>
        </p:blipFill>
        <p:spPr>
          <a:xfrm>
            <a:off x="2834640" y="1737360"/>
            <a:ext cx="274320" cy="274320"/>
          </a:xfrm>
          <a:prstGeom prst="rect">
            <a:avLst/>
          </a:prstGeom>
        </p:spPr>
      </p:pic>
      <p:sp>
        <p:nvSpPr>
          <p:cNvPr id="13" name="Text 9"/>
          <p:cNvSpPr txBox="1"/>
          <p:nvPr/>
        </p:nvSpPr>
        <p:spPr>
          <a:xfrm>
            <a:off x="2697480" y="2240280"/>
            <a:ext cx="164592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2  Case brief</a:t>
            </a:r>
            <a:endParaRPr lang="en-US" sz="1400" dirty="0"/>
          </a:p>
        </p:txBody>
      </p:sp>
      <p:sp>
        <p:nvSpPr>
          <p:cNvPr id="14" name="Text 10"/>
          <p:cNvSpPr txBox="1"/>
          <p:nvPr/>
        </p:nvSpPr>
        <p:spPr>
          <a:xfrm>
            <a:off x="2697480" y="2606040"/>
            <a:ext cx="1645920" cy="91440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One company, stated once, directly above the task.</a:t>
            </a:r>
            <a:endParaRPr lang="en-US" sz="1100" dirty="0"/>
          </a:p>
        </p:txBody>
      </p:sp>
      <p:sp>
        <p:nvSpPr>
          <p:cNvPr id="15" name="Text 11"/>
          <p:cNvSpPr txBox="1"/>
          <p:nvPr/>
        </p:nvSpPr>
        <p:spPr>
          <a:xfrm>
            <a:off x="4434840" y="2286000"/>
            <a:ext cx="228600" cy="365760"/>
          </a:xfrm>
          <a:prstGeom prst="rect">
            <a:avLst/>
          </a:prstGeom>
          <a:noFill/>
          <a:ln/>
        </p:spPr>
        <p:txBody>
          <a:bodyPr wrap="square" lIns="0" tIns="0" rIns="0" bIns="0" rtlCol="0" anchor="ctr"/>
          <a:lstStyle/>
          <a:p>
            <a:pPr algn="ctr" indent="0" marL="0">
              <a:buNone/>
            </a:pPr>
            <a:r>
              <a:rPr lang="en-US" sz="2200" b="1" dirty="0">
                <a:solidFill>
                  <a:srgbClr val="D99A2B"/>
                </a:solidFill>
                <a:latin typeface="Calibri" pitchFamily="34" charset="0"/>
                <a:ea typeface="Calibri" pitchFamily="34" charset="-122"/>
                <a:cs typeface="Calibri" pitchFamily="34" charset="-120"/>
              </a:rPr>
              <a:t>›</a:t>
            </a:r>
            <a:endParaRPr lang="en-US" sz="2200" dirty="0"/>
          </a:p>
        </p:txBody>
      </p:sp>
      <p:sp>
        <p:nvSpPr>
          <p:cNvPr id="16" name="Shape 12"/>
          <p:cNvSpPr/>
          <p:nvPr/>
        </p:nvSpPr>
        <p:spPr>
          <a:xfrm>
            <a:off x="4663440" y="1463040"/>
            <a:ext cx="1874520" cy="2148840"/>
          </a:xfrm>
          <a:prstGeom prst="roundRect">
            <a:avLst>
              <a:gd name="adj" fmla="val 3902"/>
            </a:avLst>
          </a:prstGeom>
          <a:solidFill>
            <a:srgbClr val="FFFFFF"/>
          </a:solidFill>
          <a:ln w="9525">
            <a:solidFill>
              <a:srgbClr val="D8D1BF"/>
            </a:solidFill>
            <a:prstDash val="solid"/>
          </a:ln>
        </p:spPr>
      </p:sp>
      <p:sp>
        <p:nvSpPr>
          <p:cNvPr id="17" name="Shape 13"/>
          <p:cNvSpPr/>
          <p:nvPr/>
        </p:nvSpPr>
        <p:spPr>
          <a:xfrm>
            <a:off x="4800600" y="1600200"/>
            <a:ext cx="548640" cy="548640"/>
          </a:xfrm>
          <a:prstGeom prst="ellipse">
            <a:avLst/>
          </a:prstGeom>
          <a:solidFill>
            <a:srgbClr val="DFEEEB"/>
          </a:solidFill>
          <a:ln w="12700">
            <a:solidFill>
              <a:srgbClr val="DFEEEB"/>
            </a:solidFill>
            <a:prstDash val="solid"/>
          </a:ln>
        </p:spPr>
      </p:sp>
      <p:pic>
        <p:nvPicPr>
          <p:cNvPr id="18" name="Image 2" descr="preencoded.png">    </p:cNvPr>
          <p:cNvPicPr>
            <a:picLocks noChangeAspect="1"/>
          </p:cNvPicPr>
          <p:nvPr/>
        </p:nvPicPr>
        <p:blipFill>
          <a:blip r:embed="rId3"/>
          <a:stretch>
            <a:fillRect/>
          </a:stretch>
        </p:blipFill>
        <p:spPr>
          <a:xfrm>
            <a:off x="4937760" y="1737360"/>
            <a:ext cx="274320" cy="274320"/>
          </a:xfrm>
          <a:prstGeom prst="rect">
            <a:avLst/>
          </a:prstGeom>
        </p:spPr>
      </p:pic>
      <p:sp>
        <p:nvSpPr>
          <p:cNvPr id="19" name="Text 14"/>
          <p:cNvSpPr txBox="1"/>
          <p:nvPr/>
        </p:nvSpPr>
        <p:spPr>
          <a:xfrm>
            <a:off x="4800600" y="2240280"/>
            <a:ext cx="164592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3  Task</a:t>
            </a:r>
            <a:endParaRPr lang="en-US" sz="1400" dirty="0"/>
          </a:p>
        </p:txBody>
      </p:sp>
      <p:sp>
        <p:nvSpPr>
          <p:cNvPr id="20" name="Text 15"/>
          <p:cNvSpPr txBox="1"/>
          <p:nvPr/>
        </p:nvSpPr>
        <p:spPr>
          <a:xfrm>
            <a:off x="4800600" y="2606040"/>
            <a:ext cx="1645920" cy="91440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One continuous scroll. You decide first; the position follows from your choices.</a:t>
            </a:r>
            <a:endParaRPr lang="en-US" sz="1100" dirty="0"/>
          </a:p>
        </p:txBody>
      </p:sp>
      <p:sp>
        <p:nvSpPr>
          <p:cNvPr id="21" name="Text 16"/>
          <p:cNvSpPr txBox="1"/>
          <p:nvPr/>
        </p:nvSpPr>
        <p:spPr>
          <a:xfrm>
            <a:off x="6537960" y="2286000"/>
            <a:ext cx="228600" cy="365760"/>
          </a:xfrm>
          <a:prstGeom prst="rect">
            <a:avLst/>
          </a:prstGeom>
          <a:noFill/>
          <a:ln/>
        </p:spPr>
        <p:txBody>
          <a:bodyPr wrap="square" lIns="0" tIns="0" rIns="0" bIns="0" rtlCol="0" anchor="ctr"/>
          <a:lstStyle/>
          <a:p>
            <a:pPr algn="ctr" indent="0" marL="0">
              <a:buNone/>
            </a:pPr>
            <a:r>
              <a:rPr lang="en-US" sz="2200" b="1" dirty="0">
                <a:solidFill>
                  <a:srgbClr val="D99A2B"/>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6766560" y="1463040"/>
            <a:ext cx="1874520" cy="2148840"/>
          </a:xfrm>
          <a:prstGeom prst="roundRect">
            <a:avLst>
              <a:gd name="adj" fmla="val 3902"/>
            </a:avLst>
          </a:prstGeom>
          <a:solidFill>
            <a:srgbClr val="FFFFFF"/>
          </a:solidFill>
          <a:ln w="9525">
            <a:solidFill>
              <a:srgbClr val="D8D1BF"/>
            </a:solidFill>
            <a:prstDash val="solid"/>
          </a:ln>
        </p:spPr>
      </p:sp>
      <p:sp>
        <p:nvSpPr>
          <p:cNvPr id="23" name="Shape 18"/>
          <p:cNvSpPr/>
          <p:nvPr/>
        </p:nvSpPr>
        <p:spPr>
          <a:xfrm>
            <a:off x="6903720" y="1600200"/>
            <a:ext cx="548640" cy="548640"/>
          </a:xfrm>
          <a:prstGeom prst="ellipse">
            <a:avLst/>
          </a:prstGeom>
          <a:solidFill>
            <a:srgbClr val="DFEEEB"/>
          </a:solidFill>
          <a:ln w="12700">
            <a:solidFill>
              <a:srgbClr val="DFEEEB"/>
            </a:solidFill>
            <a:prstDash val="solid"/>
          </a:ln>
        </p:spPr>
      </p:sp>
      <p:pic>
        <p:nvPicPr>
          <p:cNvPr id="24" name="Image 3" descr="preencoded.png">    </p:cNvPr>
          <p:cNvPicPr>
            <a:picLocks noChangeAspect="1"/>
          </p:cNvPicPr>
          <p:nvPr/>
        </p:nvPicPr>
        <p:blipFill>
          <a:blip r:embed="rId4"/>
          <a:stretch>
            <a:fillRect/>
          </a:stretch>
        </p:blipFill>
        <p:spPr>
          <a:xfrm>
            <a:off x="7040880" y="1737360"/>
            <a:ext cx="274320" cy="274320"/>
          </a:xfrm>
          <a:prstGeom prst="rect">
            <a:avLst/>
          </a:prstGeom>
        </p:spPr>
      </p:pic>
      <p:sp>
        <p:nvSpPr>
          <p:cNvPr id="25" name="Text 19"/>
          <p:cNvSpPr txBox="1"/>
          <p:nvPr/>
        </p:nvSpPr>
        <p:spPr>
          <a:xfrm>
            <a:off x="6903720" y="2240280"/>
            <a:ext cx="164592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4  Export</a:t>
            </a:r>
            <a:endParaRPr lang="en-US" sz="1400" dirty="0"/>
          </a:p>
        </p:txBody>
      </p:sp>
      <p:sp>
        <p:nvSpPr>
          <p:cNvPr id="26" name="Text 20"/>
          <p:cNvSpPr txBox="1"/>
          <p:nvPr/>
        </p:nvSpPr>
        <p:spPr>
          <a:xfrm>
            <a:off x="6903720" y="2606040"/>
            <a:ext cx="1645920" cy="91440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One HTML document per route. Print or save as PDF.</a:t>
            </a:r>
            <a:endParaRPr lang="en-US" sz="1100" dirty="0"/>
          </a:p>
        </p:txBody>
      </p:sp>
      <p:sp>
        <p:nvSpPr>
          <p:cNvPr id="27" name="Shape 21"/>
          <p:cNvSpPr/>
          <p:nvPr/>
        </p:nvSpPr>
        <p:spPr>
          <a:xfrm>
            <a:off x="457200" y="3840480"/>
            <a:ext cx="8229600" cy="731520"/>
          </a:xfrm>
          <a:prstGeom prst="roundRect">
            <a:avLst>
              <a:gd name="adj" fmla="val 10000"/>
            </a:avLst>
          </a:prstGeom>
          <a:solidFill>
            <a:srgbClr val="FBF0D6"/>
          </a:solidFill>
          <a:ln w="9525">
            <a:solidFill>
              <a:srgbClr val="D8D1BF"/>
            </a:solidFill>
            <a:prstDash val="solid"/>
          </a:ln>
        </p:spPr>
      </p:sp>
      <p:sp>
        <p:nvSpPr>
          <p:cNvPr id="28" name="Text 2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200" b="1" dirty="0">
                <a:solidFill>
                  <a:srgbClr val="8A5A0B"/>
                </a:solidFill>
                <a:latin typeface="Calibri" pitchFamily="34" charset="0"/>
                <a:ea typeface="Calibri" pitchFamily="34" charset="-122"/>
                <a:cs typeface="Calibri" pitchFamily="34" charset="-120"/>
              </a:rPr>
              <a:t>Use the same full name all week.  </a:t>
            </a:r>
            <a:pPr indent="0" marL="0">
              <a:buNone/>
            </a:pPr>
            <a:r>
              <a:rPr lang="en-US" sz="1200" dirty="0">
                <a:solidFill>
                  <a:srgbClr val="1F2328"/>
                </a:solidFill>
                <a:latin typeface="Calibri" pitchFamily="34" charset="0"/>
                <a:ea typeface="Calibri" pitchFamily="34" charset="-122"/>
                <a:cs typeface="Calibri" pitchFamily="34" charset="-120"/>
              </a:rPr>
              <a:t>It is the only field you fill in; the file name adds the rest, e.g. </a:t>
            </a:r>
            <a:pPr indent="0" marL="0">
              <a:buNone/>
            </a:pPr>
            <a:r>
              <a:rPr lang="en-US" sz="1200" dirty="0">
                <a:solidFill>
                  <a:srgbClr val="1F2328"/>
                </a:solidFill>
                <a:latin typeface="Courier New" pitchFamily="34" charset="0"/>
                <a:ea typeface="Courier New" pitchFamily="34" charset="-122"/>
                <a:cs typeface="Courier New" pitchFamily="34" charset="-120"/>
              </a:rPr>
              <a:t>1-muchson-day1-l1-diagnostic.html</a:t>
            </a:r>
            <a:endParaRPr lang="en-US" sz="1200" dirty="0"/>
          </a:p>
        </p:txBody>
      </p:sp>
      <p:sp>
        <p:nvSpPr>
          <p:cNvPr id="29"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72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D99A2B"/>
                </a:solidFill>
                <a:latin typeface="Calibri" pitchFamily="34" charset="0"/>
                <a:ea typeface="Calibri" pitchFamily="34" charset="-122"/>
                <a:cs typeface="Calibri" pitchFamily="34" charset="-120"/>
              </a:rPr>
              <a:t>DAY 1 CASE · TECHSOLUTIONS GMBH</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customer who left happy</a:t>
            </a:r>
            <a:endParaRPr lang="en-US" sz="3000" dirty="0"/>
          </a:p>
        </p:txBody>
      </p:sp>
      <p:sp>
        <p:nvSpPr>
          <p:cNvPr id="4" name="Shape 2"/>
          <p:cNvSpPr/>
          <p:nvPr/>
        </p:nvSpPr>
        <p:spPr>
          <a:xfrm>
            <a:off x="457200" y="1600200"/>
            <a:ext cx="1874520" cy="2011680"/>
          </a:xfrm>
          <a:prstGeom prst="roundRect">
            <a:avLst>
              <a:gd name="adj" fmla="val 3902"/>
            </a:avLst>
          </a:prstGeom>
          <a:solidFill>
            <a:srgbClr val="333A43"/>
          </a:solidFill>
          <a:ln w="12700">
            <a:solidFill>
              <a:srgbClr val="333A43"/>
            </a:solidFill>
            <a:prstDash val="solid"/>
          </a:ln>
        </p:spPr>
      </p:sp>
      <p:sp>
        <p:nvSpPr>
          <p:cNvPr id="5" name="Text 3"/>
          <p:cNvSpPr txBox="1"/>
          <p:nvPr/>
        </p:nvSpPr>
        <p:spPr>
          <a:xfrm>
            <a:off x="594360" y="1783080"/>
            <a:ext cx="1645920" cy="731520"/>
          </a:xfrm>
          <a:prstGeom prst="rect">
            <a:avLst/>
          </a:prstGeom>
          <a:noFill/>
          <a:ln/>
        </p:spPr>
        <p:txBody>
          <a:bodyPr wrap="square" lIns="0" tIns="0" rIns="0" bIns="0" rtlCol="0" anchor="ctr"/>
          <a:lstStyle/>
          <a:p>
            <a:pPr indent="0" marL="0">
              <a:buNone/>
            </a:pPr>
            <a:r>
              <a:rPr lang="en-US" sz="3400" b="1" dirty="0">
                <a:solidFill>
                  <a:srgbClr val="D99A2B"/>
                </a:solidFill>
                <a:latin typeface="Cambria" pitchFamily="34" charset="0"/>
                <a:ea typeface="Cambria" pitchFamily="34" charset="-122"/>
                <a:cs typeface="Cambria" pitchFamily="34" charset="-120"/>
              </a:rPr>
              <a:t>70%</a:t>
            </a:r>
            <a:endParaRPr lang="en-US" sz="3400" dirty="0"/>
          </a:p>
        </p:txBody>
      </p:sp>
      <p:sp>
        <p:nvSpPr>
          <p:cNvPr id="6" name="Text 4"/>
          <p:cNvSpPr txBox="1"/>
          <p:nvPr/>
        </p:nvSpPr>
        <p:spPr>
          <a:xfrm>
            <a:off x="594360" y="2606040"/>
            <a:ext cx="1645920" cy="868680"/>
          </a:xfrm>
          <a:prstGeom prst="rect">
            <a:avLst/>
          </a:prstGeom>
          <a:noFill/>
          <a:ln/>
        </p:spPr>
        <p:txBody>
          <a:bodyPr wrap="square" lIns="0" tIns="0" rIns="0" bIns="0" rtlCol="0" anchor="t"/>
          <a:lstStyle/>
          <a:p>
            <a:pPr indent="0" marL="0">
              <a:buNone/>
            </a:pPr>
            <a:r>
              <a:rPr lang="en-US" sz="1200" dirty="0">
                <a:solidFill>
                  <a:srgbClr val="E4E7EB"/>
                </a:solidFill>
                <a:latin typeface="Calibri" pitchFamily="34" charset="0"/>
                <a:ea typeface="Calibri" pitchFamily="34" charset="-122"/>
                <a:cs typeface="Calibri" pitchFamily="34" charset="-120"/>
              </a:rPr>
              <a:t>of customers buy only one project</a:t>
            </a:r>
            <a:endParaRPr lang="en-US" sz="1200" dirty="0"/>
          </a:p>
        </p:txBody>
      </p:sp>
      <p:sp>
        <p:nvSpPr>
          <p:cNvPr id="7" name="Shape 5"/>
          <p:cNvSpPr/>
          <p:nvPr/>
        </p:nvSpPr>
        <p:spPr>
          <a:xfrm>
            <a:off x="2560320" y="1600200"/>
            <a:ext cx="1874520" cy="2011680"/>
          </a:xfrm>
          <a:prstGeom prst="roundRect">
            <a:avLst>
              <a:gd name="adj" fmla="val 3902"/>
            </a:avLst>
          </a:prstGeom>
          <a:solidFill>
            <a:srgbClr val="333A43"/>
          </a:solidFill>
          <a:ln w="12700">
            <a:solidFill>
              <a:srgbClr val="333A43"/>
            </a:solidFill>
            <a:prstDash val="solid"/>
          </a:ln>
        </p:spPr>
      </p:sp>
      <p:sp>
        <p:nvSpPr>
          <p:cNvPr id="8" name="Text 6"/>
          <p:cNvSpPr txBox="1"/>
          <p:nvPr/>
        </p:nvSpPr>
        <p:spPr>
          <a:xfrm>
            <a:off x="2697480" y="1783080"/>
            <a:ext cx="1645920" cy="731520"/>
          </a:xfrm>
          <a:prstGeom prst="rect">
            <a:avLst/>
          </a:prstGeom>
          <a:noFill/>
          <a:ln/>
        </p:spPr>
        <p:txBody>
          <a:bodyPr wrap="square" lIns="0" tIns="0" rIns="0" bIns="0" rtlCol="0" anchor="ctr"/>
          <a:lstStyle/>
          <a:p>
            <a:pPr indent="0" marL="0">
              <a:buNone/>
            </a:pPr>
            <a:r>
              <a:rPr lang="en-US" sz="3400" b="1" dirty="0">
                <a:solidFill>
                  <a:srgbClr val="D99A2B"/>
                </a:solidFill>
                <a:latin typeface="Cambria" pitchFamily="34" charset="0"/>
                <a:ea typeface="Cambria" pitchFamily="34" charset="-122"/>
                <a:cs typeface="Cambria" pitchFamily="34" charset="-120"/>
              </a:rPr>
              <a:t>4 / 5</a:t>
            </a:r>
            <a:endParaRPr lang="en-US" sz="3400" dirty="0"/>
          </a:p>
        </p:txBody>
      </p:sp>
      <p:sp>
        <p:nvSpPr>
          <p:cNvPr id="9" name="Text 7"/>
          <p:cNvSpPr txBox="1"/>
          <p:nvPr/>
        </p:nvSpPr>
        <p:spPr>
          <a:xfrm>
            <a:off x="2697480" y="2606040"/>
            <a:ext cx="1645920" cy="868680"/>
          </a:xfrm>
          <a:prstGeom prst="rect">
            <a:avLst/>
          </a:prstGeom>
          <a:noFill/>
          <a:ln/>
        </p:spPr>
        <p:txBody>
          <a:bodyPr wrap="square" lIns="0" tIns="0" rIns="0" bIns="0" rtlCol="0" anchor="t"/>
          <a:lstStyle/>
          <a:p>
            <a:pPr indent="0" marL="0">
              <a:buNone/>
            </a:pPr>
            <a:r>
              <a:rPr lang="en-US" sz="1200" dirty="0">
                <a:solidFill>
                  <a:srgbClr val="E4E7EB"/>
                </a:solidFill>
                <a:latin typeface="Calibri" pitchFamily="34" charset="0"/>
                <a:ea typeface="Calibri" pitchFamily="34" charset="-122"/>
                <a:cs typeface="Calibri" pitchFamily="34" charset="-120"/>
              </a:rPr>
              <a:t>Kessler's rating of the finished project</a:t>
            </a:r>
            <a:endParaRPr lang="en-US" sz="1200" dirty="0"/>
          </a:p>
        </p:txBody>
      </p:sp>
      <p:sp>
        <p:nvSpPr>
          <p:cNvPr id="10" name="Shape 8"/>
          <p:cNvSpPr/>
          <p:nvPr/>
        </p:nvSpPr>
        <p:spPr>
          <a:xfrm>
            <a:off x="4663440" y="1600200"/>
            <a:ext cx="1874520" cy="2011680"/>
          </a:xfrm>
          <a:prstGeom prst="roundRect">
            <a:avLst>
              <a:gd name="adj" fmla="val 3902"/>
            </a:avLst>
          </a:prstGeom>
          <a:solidFill>
            <a:srgbClr val="333A43"/>
          </a:solidFill>
          <a:ln w="12700">
            <a:solidFill>
              <a:srgbClr val="333A43"/>
            </a:solidFill>
            <a:prstDash val="solid"/>
          </a:ln>
        </p:spPr>
      </p:sp>
      <p:sp>
        <p:nvSpPr>
          <p:cNvPr id="11" name="Text 9"/>
          <p:cNvSpPr txBox="1"/>
          <p:nvPr/>
        </p:nvSpPr>
        <p:spPr>
          <a:xfrm>
            <a:off x="4800600" y="1783080"/>
            <a:ext cx="1645920" cy="731520"/>
          </a:xfrm>
          <a:prstGeom prst="rect">
            <a:avLst/>
          </a:prstGeom>
          <a:noFill/>
          <a:ln/>
        </p:spPr>
        <p:txBody>
          <a:bodyPr wrap="square" lIns="0" tIns="0" rIns="0" bIns="0" rtlCol="0" anchor="ctr"/>
          <a:lstStyle/>
          <a:p>
            <a:pPr indent="0" marL="0">
              <a:buNone/>
            </a:pPr>
            <a:r>
              <a:rPr lang="en-US" sz="3400" b="1" dirty="0">
                <a:solidFill>
                  <a:srgbClr val="D99A2B"/>
                </a:solidFill>
                <a:latin typeface="Cambria" pitchFamily="34" charset="0"/>
                <a:ea typeface="Cambria" pitchFamily="34" charset="-122"/>
                <a:cs typeface="Cambria" pitchFamily="34" charset="-120"/>
              </a:rPr>
              <a:t>11 mo.</a:t>
            </a:r>
            <a:endParaRPr lang="en-US" sz="3400" dirty="0"/>
          </a:p>
        </p:txBody>
      </p:sp>
      <p:sp>
        <p:nvSpPr>
          <p:cNvPr id="12" name="Text 10"/>
          <p:cNvSpPr txBox="1"/>
          <p:nvPr/>
        </p:nvSpPr>
        <p:spPr>
          <a:xfrm>
            <a:off x="4800600" y="2606040"/>
            <a:ext cx="1645920" cy="868680"/>
          </a:xfrm>
          <a:prstGeom prst="rect">
            <a:avLst/>
          </a:prstGeom>
          <a:noFill/>
          <a:ln/>
        </p:spPr>
        <p:txBody>
          <a:bodyPr wrap="square" lIns="0" tIns="0" rIns="0" bIns="0" rtlCol="0" anchor="t"/>
          <a:lstStyle/>
          <a:p>
            <a:pPr indent="0" marL="0">
              <a:buNone/>
            </a:pPr>
            <a:r>
              <a:rPr lang="en-US" sz="1200" dirty="0">
                <a:solidFill>
                  <a:srgbClr val="E4E7EB"/>
                </a:solidFill>
                <a:latin typeface="Calibri" pitchFamily="34" charset="0"/>
                <a:ea typeface="Calibri" pitchFamily="34" charset="-122"/>
                <a:cs typeface="Calibri" pitchFamily="34" charset="-120"/>
              </a:rPr>
              <a:t>later, Kessler put the next contract out to tender</a:t>
            </a:r>
            <a:endParaRPr lang="en-US" sz="1200" dirty="0"/>
          </a:p>
        </p:txBody>
      </p:sp>
      <p:sp>
        <p:nvSpPr>
          <p:cNvPr id="13" name="Shape 11"/>
          <p:cNvSpPr/>
          <p:nvPr/>
        </p:nvSpPr>
        <p:spPr>
          <a:xfrm>
            <a:off x="6766560" y="1600200"/>
            <a:ext cx="1874520" cy="2011680"/>
          </a:xfrm>
          <a:prstGeom prst="roundRect">
            <a:avLst>
              <a:gd name="adj" fmla="val 3902"/>
            </a:avLst>
          </a:prstGeom>
          <a:solidFill>
            <a:srgbClr val="333A43"/>
          </a:solidFill>
          <a:ln w="12700">
            <a:solidFill>
              <a:srgbClr val="333A43"/>
            </a:solidFill>
            <a:prstDash val="solid"/>
          </a:ln>
        </p:spPr>
      </p:sp>
      <p:sp>
        <p:nvSpPr>
          <p:cNvPr id="14" name="Text 12"/>
          <p:cNvSpPr txBox="1"/>
          <p:nvPr/>
        </p:nvSpPr>
        <p:spPr>
          <a:xfrm>
            <a:off x="6903720" y="1783080"/>
            <a:ext cx="1645920" cy="731520"/>
          </a:xfrm>
          <a:prstGeom prst="rect">
            <a:avLst/>
          </a:prstGeom>
          <a:noFill/>
          <a:ln/>
        </p:spPr>
        <p:txBody>
          <a:bodyPr wrap="square" lIns="0" tIns="0" rIns="0" bIns="0" rtlCol="0" anchor="ctr"/>
          <a:lstStyle/>
          <a:p>
            <a:pPr indent="0" marL="0">
              <a:buNone/>
            </a:pPr>
            <a:r>
              <a:rPr lang="en-US" sz="3400" b="1" dirty="0">
                <a:solidFill>
                  <a:srgbClr val="D99A2B"/>
                </a:solidFill>
                <a:latin typeface="Cambria" pitchFamily="34" charset="0"/>
                <a:ea typeface="Cambria" pitchFamily="34" charset="-122"/>
                <a:cs typeface="Cambria" pitchFamily="34" charset="-120"/>
              </a:rPr>
              <a:t>€200k</a:t>
            </a:r>
            <a:endParaRPr lang="en-US" sz="3400" dirty="0"/>
          </a:p>
        </p:txBody>
      </p:sp>
      <p:sp>
        <p:nvSpPr>
          <p:cNvPr id="15" name="Text 13"/>
          <p:cNvSpPr txBox="1"/>
          <p:nvPr/>
        </p:nvSpPr>
        <p:spPr>
          <a:xfrm>
            <a:off x="6903720" y="2606040"/>
            <a:ext cx="1645920" cy="868680"/>
          </a:xfrm>
          <a:prstGeom prst="rect">
            <a:avLst/>
          </a:prstGeom>
          <a:noFill/>
          <a:ln/>
        </p:spPr>
        <p:txBody>
          <a:bodyPr wrap="square" lIns="0" tIns="0" rIns="0" bIns="0" rtlCol="0" anchor="t"/>
          <a:lstStyle/>
          <a:p>
            <a:pPr indent="0" marL="0">
              <a:buNone/>
            </a:pPr>
            <a:r>
              <a:rPr lang="en-US" sz="1200" dirty="0">
                <a:solidFill>
                  <a:srgbClr val="E4E7EB"/>
                </a:solidFill>
                <a:latin typeface="Calibri" pitchFamily="34" charset="0"/>
                <a:ea typeface="Calibri" pitchFamily="34" charset="-122"/>
                <a:cs typeface="Calibri" pitchFamily="34" charset="-120"/>
              </a:rPr>
              <a:t>and six months to keep more of 42 one-off customers</a:t>
            </a:r>
            <a:endParaRPr lang="en-US" sz="1200" dirty="0"/>
          </a:p>
        </p:txBody>
      </p:sp>
      <p:sp>
        <p:nvSpPr>
          <p:cNvPr id="16" name="Text 14"/>
          <p:cNvSpPr txBox="1"/>
          <p:nvPr/>
        </p:nvSpPr>
        <p:spPr>
          <a:xfrm>
            <a:off x="457200" y="3977640"/>
            <a:ext cx="8229600" cy="41148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The puzzle: satisfied is not the same as staying.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DAY 1 · THE IDEAS YOU WILL USE</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From diagnosis to a decision</a:t>
            </a:r>
            <a:endParaRPr lang="en-US" sz="3000" dirty="0"/>
          </a:p>
        </p:txBody>
      </p:sp>
      <p:sp>
        <p:nvSpPr>
          <p:cNvPr id="4" name="Shape 2"/>
          <p:cNvSpPr/>
          <p:nvPr/>
        </p:nvSpPr>
        <p:spPr>
          <a:xfrm>
            <a:off x="457200" y="1417320"/>
            <a:ext cx="2606040" cy="3154680"/>
          </a:xfrm>
          <a:prstGeom prst="roundRect">
            <a:avLst>
              <a:gd name="adj" fmla="val 2807"/>
            </a:avLst>
          </a:prstGeom>
          <a:solidFill>
            <a:srgbClr val="DFEEEB"/>
          </a:solidFill>
          <a:ln w="9525">
            <a:solidFill>
              <a:srgbClr val="D8D1BF"/>
            </a:solidFill>
            <a:prstDash val="solid"/>
          </a:ln>
        </p:spPr>
      </p:sp>
      <p:sp>
        <p:nvSpPr>
          <p:cNvPr id="5" name="Text 3"/>
          <p:cNvSpPr txBox="1"/>
          <p:nvPr/>
        </p:nvSpPr>
        <p:spPr>
          <a:xfrm>
            <a:off x="621792" y="1536192"/>
            <a:ext cx="2286000" cy="320040"/>
          </a:xfrm>
          <a:prstGeom prst="rect">
            <a:avLst/>
          </a:prstGeom>
          <a:noFill/>
          <a:ln/>
        </p:spPr>
        <p:txBody>
          <a:bodyPr wrap="square" lIns="0" tIns="0" rIns="0" bIns="0" rtlCol="0" anchor="ctr"/>
          <a:lstStyle/>
          <a:p>
            <a:pPr indent="0" marL="0">
              <a:buNone/>
            </a:pPr>
            <a:r>
              <a:rPr lang="en-US" sz="1400" b="1" dirty="0">
                <a:solidFill>
                  <a:srgbClr val="0F6B6B"/>
                </a:solidFill>
                <a:latin typeface="Calibri" pitchFamily="34" charset="0"/>
                <a:ea typeface="Calibri" pitchFamily="34" charset="-122"/>
                <a:cs typeface="Calibri" pitchFamily="34" charset="-120"/>
              </a:rPr>
              <a:t>Materi A · Diagnose</a:t>
            </a:r>
            <a:endParaRPr lang="en-US" sz="1400" dirty="0"/>
          </a:p>
        </p:txBody>
      </p:sp>
      <p:sp>
        <p:nvSpPr>
          <p:cNvPr id="6" name="Text 4"/>
          <p:cNvSpPr txBox="1"/>
          <p:nvPr/>
        </p:nvSpPr>
        <p:spPr>
          <a:xfrm>
            <a:off x="621792" y="1920240"/>
            <a:ext cx="2286000" cy="25603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Satisfaction, loyalty and retention are three different things</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Three types of retention: emotional, economic, contractual</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Switching costs in project business</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Observation vs interpretation; sorting without overlap (MECE)</a:t>
            </a:r>
            <a:endParaRPr lang="en-US" sz="1150" dirty="0"/>
          </a:p>
        </p:txBody>
      </p:sp>
      <p:sp>
        <p:nvSpPr>
          <p:cNvPr id="7" name="Shape 5"/>
          <p:cNvSpPr/>
          <p:nvPr/>
        </p:nvSpPr>
        <p:spPr>
          <a:xfrm>
            <a:off x="3246120" y="1417320"/>
            <a:ext cx="2606040" cy="3154680"/>
          </a:xfrm>
          <a:prstGeom prst="roundRect">
            <a:avLst>
              <a:gd name="adj" fmla="val 2807"/>
            </a:avLst>
          </a:prstGeom>
          <a:solidFill>
            <a:srgbClr val="FBF0D6"/>
          </a:solidFill>
          <a:ln w="9525">
            <a:solidFill>
              <a:srgbClr val="D8D1BF"/>
            </a:solidFill>
            <a:prstDash val="solid"/>
          </a:ln>
        </p:spPr>
      </p:sp>
      <p:sp>
        <p:nvSpPr>
          <p:cNvPr id="8" name="Text 6"/>
          <p:cNvSpPr txBox="1"/>
          <p:nvPr/>
        </p:nvSpPr>
        <p:spPr>
          <a:xfrm>
            <a:off x="3410712" y="1536192"/>
            <a:ext cx="2286000" cy="320040"/>
          </a:xfrm>
          <a:prstGeom prst="rect">
            <a:avLst/>
          </a:prstGeom>
          <a:noFill/>
          <a:ln/>
        </p:spPr>
        <p:txBody>
          <a:bodyPr wrap="square" lIns="0" tIns="0" rIns="0" bIns="0" rtlCol="0" anchor="ctr"/>
          <a:lstStyle/>
          <a:p>
            <a:pPr indent="0" marL="0">
              <a:buNone/>
            </a:pPr>
            <a:r>
              <a:rPr lang="en-US" sz="1400" b="1" dirty="0">
                <a:solidFill>
                  <a:srgbClr val="8A5A0B"/>
                </a:solidFill>
                <a:latin typeface="Calibri" pitchFamily="34" charset="0"/>
                <a:ea typeface="Calibri" pitchFamily="34" charset="-122"/>
                <a:cs typeface="Calibri" pitchFamily="34" charset="-120"/>
              </a:rPr>
              <a:t>Materi B · Calculate</a:t>
            </a:r>
            <a:endParaRPr lang="en-US" sz="1400" dirty="0"/>
          </a:p>
        </p:txBody>
      </p:sp>
      <p:sp>
        <p:nvSpPr>
          <p:cNvPr id="9" name="Text 7"/>
          <p:cNvSpPr txBox="1"/>
          <p:nvPr/>
        </p:nvSpPr>
        <p:spPr>
          <a:xfrm>
            <a:off x="3410712" y="1920240"/>
            <a:ext cx="2286000" cy="25603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The buying centre: procurement, head of IT, managing director</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Four purchase motives: price, trust, risk, benefit</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Total cost over the whole contract (TCO), risk kept apart from cash</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What a calculation cannot tell you</a:t>
            </a:r>
            <a:endParaRPr lang="en-US" sz="1150" dirty="0"/>
          </a:p>
        </p:txBody>
      </p:sp>
      <p:sp>
        <p:nvSpPr>
          <p:cNvPr id="10" name="Shape 8"/>
          <p:cNvSpPr/>
          <p:nvPr/>
        </p:nvSpPr>
        <p:spPr>
          <a:xfrm>
            <a:off x="6035040" y="1417320"/>
            <a:ext cx="2606040" cy="3154680"/>
          </a:xfrm>
          <a:prstGeom prst="roundRect">
            <a:avLst>
              <a:gd name="adj" fmla="val 2807"/>
            </a:avLst>
          </a:prstGeom>
          <a:solidFill>
            <a:srgbClr val="F3EFE4"/>
          </a:solidFill>
          <a:ln w="9525">
            <a:solidFill>
              <a:srgbClr val="D8D1BF"/>
            </a:solidFill>
            <a:prstDash val="solid"/>
          </a:ln>
        </p:spPr>
      </p:sp>
      <p:sp>
        <p:nvSpPr>
          <p:cNvPr id="11" name="Text 9"/>
          <p:cNvSpPr txBox="1"/>
          <p:nvPr/>
        </p:nvSpPr>
        <p:spPr>
          <a:xfrm>
            <a:off x="6199632" y="1536192"/>
            <a:ext cx="228600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Materi C · Decide</a:t>
            </a:r>
            <a:endParaRPr lang="en-US" sz="1400" dirty="0"/>
          </a:p>
        </p:txBody>
      </p:sp>
      <p:sp>
        <p:nvSpPr>
          <p:cNvPr id="12" name="Text 10"/>
          <p:cNvSpPr txBox="1"/>
          <p:nvPr/>
        </p:nvSpPr>
        <p:spPr>
          <a:xfrm>
            <a:off x="6199632" y="1920240"/>
            <a:ext cx="2286000" cy="25603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Reversible and irreversible decisions</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Planning fallacy and reference-class forecasting</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Scoring options under one capped budget</a:t>
            </a:r>
            <a:endParaRPr lang="en-US" sz="1150" dirty="0"/>
          </a:p>
          <a:p>
            <a:pPr marL="342900" indent="-342900">
              <a:spcAft>
                <a:spcPts val="800"/>
              </a:spcAft>
              <a:buSzPct val="100000"/>
              <a:buChar char="•"/>
            </a:pPr>
            <a:r>
              <a:rPr lang="en-US" sz="1150" dirty="0">
                <a:solidFill>
                  <a:srgbClr val="1F2328"/>
                </a:solidFill>
                <a:latin typeface="Calibri" pitchFamily="34" charset="0"/>
                <a:ea typeface="Calibri" pitchFamily="34" charset="-122"/>
                <a:cs typeface="Calibri" pitchFamily="34" charset="-120"/>
              </a:rPr>
              <a:t>Governance: who decides, executes, is informed (RACI)</a:t>
            </a:r>
            <a:endParaRPr lang="en-US" sz="1150" dirty="0"/>
          </a:p>
        </p:txBody>
      </p:sp>
      <p:sp>
        <p:nvSpPr>
          <p:cNvPr id="13" name="Text 11"/>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DAY 2 CASE · DIGITALIT SOLUTIONS GMBH</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DigitalIT Solutions: many leads, few closings</a:t>
            </a:r>
            <a:endParaRPr lang="en-US" sz="3000" dirty="0"/>
          </a:p>
        </p:txBody>
      </p:sp>
      <p:sp>
        <p:nvSpPr>
          <p:cNvPr id="4" name="Shape 2"/>
          <p:cNvSpPr/>
          <p:nvPr/>
        </p:nvSpPr>
        <p:spPr>
          <a:xfrm>
            <a:off x="457200" y="1417320"/>
            <a:ext cx="4572000" cy="429768"/>
          </a:xfrm>
          <a:prstGeom prst="rect">
            <a:avLst/>
          </a:prstGeom>
          <a:solidFill>
            <a:srgbClr val="2F5D62"/>
          </a:solidFill>
          <a:ln w="12700">
            <a:solidFill>
              <a:srgbClr val="FFFFFF"/>
            </a:solidFill>
            <a:prstDash val="solid"/>
          </a:ln>
        </p:spPr>
      </p:sp>
      <p:sp>
        <p:nvSpPr>
          <p:cNvPr id="5" name="Text 3"/>
          <p:cNvSpPr txBox="1"/>
          <p:nvPr/>
        </p:nvSpPr>
        <p:spPr>
          <a:xfrm>
            <a:off x="457200" y="1417320"/>
            <a:ext cx="4572000"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24,000  </a:t>
            </a:r>
            <a:pPr algn="ctr" indent="0" marL="0">
              <a:buNone/>
            </a:pPr>
            <a:r>
              <a:rPr lang="en-US" sz="1000" dirty="0">
                <a:solidFill>
                  <a:srgbClr val="FFFFFF"/>
                </a:solidFill>
                <a:latin typeface="Calibri" pitchFamily="34" charset="0"/>
                <a:ea typeface="Calibri" pitchFamily="34" charset="-122"/>
                <a:cs typeface="Calibri" pitchFamily="34" charset="-120"/>
              </a:rPr>
              <a:t>Website visitors</a:t>
            </a:r>
            <a:endParaRPr lang="en-US" sz="1200" dirty="0"/>
          </a:p>
        </p:txBody>
      </p:sp>
      <p:sp>
        <p:nvSpPr>
          <p:cNvPr id="6" name="Shape 4"/>
          <p:cNvSpPr/>
          <p:nvPr/>
        </p:nvSpPr>
        <p:spPr>
          <a:xfrm>
            <a:off x="740664" y="1938528"/>
            <a:ext cx="4005072" cy="429768"/>
          </a:xfrm>
          <a:prstGeom prst="rect">
            <a:avLst/>
          </a:prstGeom>
          <a:solidFill>
            <a:srgbClr val="2F5D62"/>
          </a:solidFill>
          <a:ln w="12700">
            <a:solidFill>
              <a:srgbClr val="FFFFFF"/>
            </a:solidFill>
            <a:prstDash val="solid"/>
          </a:ln>
        </p:spPr>
      </p:sp>
      <p:sp>
        <p:nvSpPr>
          <p:cNvPr id="7" name="Text 5"/>
          <p:cNvSpPr txBox="1"/>
          <p:nvPr/>
        </p:nvSpPr>
        <p:spPr>
          <a:xfrm>
            <a:off x="740664" y="1938528"/>
            <a:ext cx="4005072"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480  </a:t>
            </a:r>
            <a:pPr algn="ctr" indent="0" marL="0">
              <a:buNone/>
            </a:pPr>
            <a:r>
              <a:rPr lang="en-US" sz="1000" dirty="0">
                <a:solidFill>
                  <a:srgbClr val="FFFFFF"/>
                </a:solidFill>
                <a:latin typeface="Calibri" pitchFamily="34" charset="0"/>
                <a:ea typeface="Calibri" pitchFamily="34" charset="-122"/>
                <a:cs typeface="Calibri" pitchFamily="34" charset="-120"/>
              </a:rPr>
              <a:t>Leads</a:t>
            </a:r>
            <a:endParaRPr lang="en-US" sz="1200" dirty="0"/>
          </a:p>
        </p:txBody>
      </p:sp>
      <p:sp>
        <p:nvSpPr>
          <p:cNvPr id="8" name="Shape 6"/>
          <p:cNvSpPr/>
          <p:nvPr/>
        </p:nvSpPr>
        <p:spPr>
          <a:xfrm>
            <a:off x="1024128" y="2459736"/>
            <a:ext cx="3438144" cy="429768"/>
          </a:xfrm>
          <a:prstGeom prst="rect">
            <a:avLst/>
          </a:prstGeom>
          <a:solidFill>
            <a:srgbClr val="2F5D62"/>
          </a:solidFill>
          <a:ln w="12700">
            <a:solidFill>
              <a:srgbClr val="FFFFFF"/>
            </a:solidFill>
            <a:prstDash val="solid"/>
          </a:ln>
        </p:spPr>
      </p:sp>
      <p:sp>
        <p:nvSpPr>
          <p:cNvPr id="9" name="Text 7"/>
          <p:cNvSpPr txBox="1"/>
          <p:nvPr/>
        </p:nvSpPr>
        <p:spPr>
          <a:xfrm>
            <a:off x="1024128" y="2459736"/>
            <a:ext cx="3438144"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96  </a:t>
            </a:r>
            <a:pPr algn="ctr" indent="0" marL="0">
              <a:buNone/>
            </a:pPr>
            <a:r>
              <a:rPr lang="en-US" sz="1000" dirty="0">
                <a:solidFill>
                  <a:srgbClr val="FFFFFF"/>
                </a:solidFill>
                <a:latin typeface="Calibri" pitchFamily="34" charset="0"/>
                <a:ea typeface="Calibri" pitchFamily="34" charset="-122"/>
                <a:cs typeface="Calibri" pitchFamily="34" charset="-120"/>
              </a:rPr>
              <a:t>Consultation booked</a:t>
            </a:r>
            <a:endParaRPr lang="en-US" sz="1200" dirty="0"/>
          </a:p>
        </p:txBody>
      </p:sp>
      <p:sp>
        <p:nvSpPr>
          <p:cNvPr id="10" name="Shape 8"/>
          <p:cNvSpPr/>
          <p:nvPr/>
        </p:nvSpPr>
        <p:spPr>
          <a:xfrm>
            <a:off x="1307592" y="2980944"/>
            <a:ext cx="2871216" cy="429768"/>
          </a:xfrm>
          <a:prstGeom prst="rect">
            <a:avLst/>
          </a:prstGeom>
          <a:solidFill>
            <a:srgbClr val="2F5D62"/>
          </a:solidFill>
          <a:ln w="12700">
            <a:solidFill>
              <a:srgbClr val="FFFFFF"/>
            </a:solidFill>
            <a:prstDash val="solid"/>
          </a:ln>
        </p:spPr>
      </p:sp>
      <p:sp>
        <p:nvSpPr>
          <p:cNvPr id="11" name="Text 9"/>
          <p:cNvSpPr txBox="1"/>
          <p:nvPr/>
        </p:nvSpPr>
        <p:spPr>
          <a:xfrm>
            <a:off x="1307592" y="2980944"/>
            <a:ext cx="2871216"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41  </a:t>
            </a:r>
            <a:pPr algn="ctr" indent="0" marL="0">
              <a:buNone/>
            </a:pPr>
            <a:r>
              <a:rPr lang="en-US" sz="1000" dirty="0">
                <a:solidFill>
                  <a:srgbClr val="FFFFFF"/>
                </a:solidFill>
                <a:latin typeface="Calibri" pitchFamily="34" charset="0"/>
                <a:ea typeface="Calibri" pitchFamily="34" charset="-122"/>
                <a:cs typeface="Calibri" pitchFamily="34" charset="-120"/>
              </a:rPr>
              <a:t>Consultation held</a:t>
            </a:r>
            <a:endParaRPr lang="en-US" sz="1200" dirty="0"/>
          </a:p>
        </p:txBody>
      </p:sp>
      <p:sp>
        <p:nvSpPr>
          <p:cNvPr id="12" name="Shape 10"/>
          <p:cNvSpPr/>
          <p:nvPr/>
        </p:nvSpPr>
        <p:spPr>
          <a:xfrm>
            <a:off x="1591056" y="3502152"/>
            <a:ext cx="2304288" cy="429768"/>
          </a:xfrm>
          <a:prstGeom prst="rect">
            <a:avLst/>
          </a:prstGeom>
          <a:solidFill>
            <a:srgbClr val="2F5D62"/>
          </a:solidFill>
          <a:ln w="12700">
            <a:solidFill>
              <a:srgbClr val="FFFFFF"/>
            </a:solidFill>
            <a:prstDash val="solid"/>
          </a:ln>
        </p:spPr>
      </p:sp>
      <p:sp>
        <p:nvSpPr>
          <p:cNvPr id="13" name="Text 11"/>
          <p:cNvSpPr txBox="1"/>
          <p:nvPr/>
        </p:nvSpPr>
        <p:spPr>
          <a:xfrm>
            <a:off x="1591056" y="3502152"/>
            <a:ext cx="2304288"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22  </a:t>
            </a:r>
            <a:pPr algn="ctr" indent="0" marL="0">
              <a:buNone/>
            </a:pPr>
            <a:r>
              <a:rPr lang="en-US" sz="1000" dirty="0">
                <a:solidFill>
                  <a:srgbClr val="FFFFFF"/>
                </a:solidFill>
                <a:latin typeface="Calibri" pitchFamily="34" charset="0"/>
                <a:ea typeface="Calibri" pitchFamily="34" charset="-122"/>
                <a:cs typeface="Calibri" pitchFamily="34" charset="-120"/>
              </a:rPr>
              <a:t>Proposal sent</a:t>
            </a:r>
            <a:endParaRPr lang="en-US" sz="1200" dirty="0"/>
          </a:p>
        </p:txBody>
      </p:sp>
      <p:sp>
        <p:nvSpPr>
          <p:cNvPr id="14" name="Shape 12"/>
          <p:cNvSpPr/>
          <p:nvPr/>
        </p:nvSpPr>
        <p:spPr>
          <a:xfrm>
            <a:off x="1874520" y="4023360"/>
            <a:ext cx="1737360" cy="429768"/>
          </a:xfrm>
          <a:prstGeom prst="rect">
            <a:avLst/>
          </a:prstGeom>
          <a:solidFill>
            <a:srgbClr val="8A5A0B"/>
          </a:solidFill>
          <a:ln w="12700">
            <a:solidFill>
              <a:srgbClr val="FFFFFF"/>
            </a:solidFill>
            <a:prstDash val="solid"/>
          </a:ln>
        </p:spPr>
      </p:sp>
      <p:sp>
        <p:nvSpPr>
          <p:cNvPr id="15" name="Text 13"/>
          <p:cNvSpPr txBox="1"/>
          <p:nvPr/>
        </p:nvSpPr>
        <p:spPr>
          <a:xfrm>
            <a:off x="1874520" y="4023360"/>
            <a:ext cx="1737360" cy="4297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a:t>
            </a:r>
            <a:pPr algn="ctr" indent="0" marL="0">
              <a:buNone/>
            </a:pPr>
            <a:r>
              <a:rPr lang="en-US" sz="1000" dirty="0">
                <a:solidFill>
                  <a:srgbClr val="FFFFFF"/>
                </a:solidFill>
                <a:latin typeface="Calibri" pitchFamily="34" charset="0"/>
                <a:ea typeface="Calibri" pitchFamily="34" charset="-122"/>
                <a:cs typeface="Calibri" pitchFamily="34" charset="-120"/>
              </a:rPr>
              <a:t>Contract signed</a:t>
            </a:r>
            <a:endParaRPr lang="en-US" sz="1200" dirty="0"/>
          </a:p>
        </p:txBody>
      </p:sp>
      <p:sp>
        <p:nvSpPr>
          <p:cNvPr id="16" name="Shape 14"/>
          <p:cNvSpPr/>
          <p:nvPr/>
        </p:nvSpPr>
        <p:spPr>
          <a:xfrm>
            <a:off x="5486400" y="1417320"/>
            <a:ext cx="3200400" cy="3063240"/>
          </a:xfrm>
          <a:prstGeom prst="roundRect">
            <a:avLst>
              <a:gd name="adj" fmla="val 2388"/>
            </a:avLst>
          </a:prstGeom>
          <a:solidFill>
            <a:srgbClr val="F3EFE4"/>
          </a:solidFill>
          <a:ln w="9525">
            <a:solidFill>
              <a:srgbClr val="D8D1BF"/>
            </a:solidFill>
            <a:prstDash val="solid"/>
          </a:ln>
        </p:spPr>
      </p:sp>
      <p:sp>
        <p:nvSpPr>
          <p:cNvPr id="17" name="Text 15"/>
          <p:cNvSpPr txBox="1"/>
          <p:nvPr/>
        </p:nvSpPr>
        <p:spPr>
          <a:xfrm>
            <a:off x="5669280" y="1554480"/>
            <a:ext cx="2880360" cy="2834640"/>
          </a:xfrm>
          <a:prstGeom prst="rect">
            <a:avLst/>
          </a:prstGeom>
          <a:noFill/>
          <a:ln/>
        </p:spPr>
        <p:txBody>
          <a:bodyPr wrap="square" lIns="0" tIns="0" rIns="0" bIns="0" rtlCol="0" anchor="t"/>
          <a:lstStyle/>
          <a:p>
            <a:pPr indent="0" marL="0">
              <a:spcAft>
                <a:spcPts val="400"/>
              </a:spcAft>
              <a:buNone/>
            </a:pPr>
            <a:r>
              <a:rPr lang="en-US" sz="1300" b="1" dirty="0">
                <a:solidFill>
                  <a:srgbClr val="8A5A0B"/>
                </a:solidFill>
                <a:latin typeface="Calibri" pitchFamily="34" charset="0"/>
                <a:ea typeface="Calibri" pitchFamily="34" charset="-122"/>
                <a:cs typeface="Calibri" pitchFamily="34" charset="-120"/>
              </a:rPr>
              <a:t>Two segments</a:t>
            </a:r>
            <a:endParaRPr lang="en-US" sz="1100" dirty="0"/>
          </a:p>
          <a:p>
            <a:pPr marL="342900" indent="-342900">
              <a:spcAft>
                <a:spcPts val="400"/>
              </a:spcAft>
              <a:buSzPct val="100000"/>
              <a:buChar char="•"/>
            </a:pPr>
            <a:r>
              <a:rPr lang="en-US" sz="1100" dirty="0">
                <a:solidFill>
                  <a:srgbClr val="1F2328"/>
                </a:solidFill>
                <a:latin typeface="Calibri" pitchFamily="34" charset="0"/>
                <a:ea typeface="Calibri" pitchFamily="34" charset="-122"/>
                <a:cs typeface="Calibri" pitchFamily="34" charset="-120"/>
              </a:rPr>
              <a:t>14 project clients — large one-off implementations</a:t>
            </a:r>
            <a:endParaRPr lang="en-US" sz="1100" dirty="0"/>
          </a:p>
          <a:p>
            <a:pPr marL="342900" indent="-342900">
              <a:spcAft>
                <a:spcPts val="400"/>
              </a:spcAft>
              <a:buSzPct val="100000"/>
              <a:buChar char="•"/>
            </a:pPr>
            <a:r>
              <a:rPr lang="en-US" sz="1100" dirty="0">
                <a:solidFill>
                  <a:srgbClr val="1F2328"/>
                </a:solidFill>
                <a:latin typeface="Calibri" pitchFamily="34" charset="0"/>
                <a:ea typeface="Calibri" pitchFamily="34" charset="-122"/>
                <a:cs typeface="Calibri" pitchFamily="34" charset="-120"/>
              </a:rPr>
              <a:t>24 retainer clients — ongoing support contracts</a:t>
            </a:r>
            <a:endParaRPr lang="en-US" sz="1100" dirty="0"/>
          </a:p>
          <a:p>
            <a:pPr indent="0" marL="0">
              <a:spcAft>
                <a:spcPts val="400"/>
              </a:spcAft>
              <a:buNone/>
            </a:pPr>
            <a:r>
              <a:rPr lang="en-US" sz="1300" b="1" dirty="0">
                <a:solidFill>
                  <a:srgbClr val="8A5A0B"/>
                </a:solidFill>
                <a:latin typeface="Calibri" pitchFamily="34" charset="0"/>
                <a:ea typeface="Calibri" pitchFamily="34" charset="-122"/>
                <a:cs typeface="Calibri" pitchFamily="34" charset="-120"/>
              </a:rPr>
              <a:t>Three levers to compare</a:t>
            </a:r>
            <a:endParaRPr lang="en-US" sz="1100" dirty="0"/>
          </a:p>
          <a:p>
            <a:pPr marL="342900" indent="-342900">
              <a:spcAft>
                <a:spcPts val="400"/>
              </a:spcAft>
              <a:buSzPct val="100000"/>
              <a:buChar char="•"/>
            </a:pPr>
            <a:r>
              <a:rPr lang="en-US" sz="1100" dirty="0">
                <a:solidFill>
                  <a:srgbClr val="1F2328"/>
                </a:solidFill>
                <a:latin typeface="Calibri" pitchFamily="34" charset="0"/>
                <a:ea typeface="Calibri" pitchFamily="34" charset="-122"/>
                <a:cs typeface="Calibri" pitchFamily="34" charset="-120"/>
              </a:rPr>
              <a:t>A · personal account management</a:t>
            </a:r>
            <a:endParaRPr lang="en-US" sz="1100" dirty="0"/>
          </a:p>
          <a:p>
            <a:pPr marL="342900" indent="-342900">
              <a:spcAft>
                <a:spcPts val="400"/>
              </a:spcAft>
              <a:buSzPct val="100000"/>
              <a:buChar char="•"/>
            </a:pPr>
            <a:r>
              <a:rPr lang="en-US" sz="1100" dirty="0">
                <a:solidFill>
                  <a:srgbClr val="1F2328"/>
                </a:solidFill>
                <a:latin typeface="Calibri" pitchFamily="34" charset="0"/>
                <a:ea typeface="Calibri" pitchFamily="34" charset="-122"/>
                <a:cs typeface="Calibri" pitchFamily="34" charset="-120"/>
              </a:rPr>
              <a:t>B · 8% discount on the repeat order</a:t>
            </a:r>
            <a:endParaRPr lang="en-US" sz="1100" dirty="0"/>
          </a:p>
          <a:p>
            <a:pPr marL="342900" indent="-342900">
              <a:spcAft>
                <a:spcPts val="400"/>
              </a:spcAft>
              <a:buSzPct val="100000"/>
              <a:buChar char="•"/>
            </a:pPr>
            <a:r>
              <a:rPr lang="en-US" sz="1100" dirty="0">
                <a:solidFill>
                  <a:srgbClr val="1F2328"/>
                </a:solidFill>
                <a:latin typeface="Calibri" pitchFamily="34" charset="0"/>
                <a:ea typeface="Calibri" pitchFamily="34" charset="-122"/>
                <a:cs typeface="Calibri" pitchFamily="34" charset="-120"/>
              </a:rPr>
              <a:t>C · value-added service</a:t>
            </a:r>
            <a:endParaRPr lang="en-US" sz="1100" dirty="0"/>
          </a:p>
          <a:p>
            <a:pPr indent="0" marL="0">
              <a:spcAft>
                <a:spcPts val="400"/>
              </a:spcAft>
              <a:buNone/>
            </a:pPr>
            <a:r>
              <a:rPr lang="en-US" sz="1200" b="1" dirty="0">
                <a:solidFill>
                  <a:srgbClr val="1F2328"/>
                </a:solidFill>
                <a:latin typeface="Calibri" pitchFamily="34" charset="0"/>
                <a:ea typeface="Calibri" pitchFamily="34" charset="-122"/>
                <a:cs typeface="Calibri" pitchFamily="34" charset="-120"/>
              </a:rPr>
              <a:t>Budget: €150,000 over four months</a:t>
            </a:r>
            <a:endParaRPr lang="en-US" sz="1100" dirty="0"/>
          </a:p>
        </p:txBody>
      </p:sp>
      <p:sp>
        <p:nvSpPr>
          <p:cNvPr id="18" name="Text 16"/>
          <p:cNvSpPr txBox="1"/>
          <p:nvPr/>
        </p:nvSpPr>
        <p:spPr>
          <a:xfrm>
            <a:off x="457200" y="4572000"/>
            <a:ext cx="4572000" cy="201168"/>
          </a:xfrm>
          <a:prstGeom prst="rect">
            <a:avLst/>
          </a:prstGeom>
          <a:noFill/>
          <a:ln/>
        </p:spPr>
        <p:txBody>
          <a:bodyPr wrap="square" lIns="0" tIns="0" rIns="0" bIns="0" rtlCol="0" anchor="ctr"/>
          <a:lstStyle/>
          <a:p>
            <a:pPr indent="0" marL="0">
              <a:buNone/>
            </a:pPr>
            <a:r>
              <a:rPr lang="en-US" sz="900" i="1" dirty="0">
                <a:solidFill>
                  <a:srgbClr val="59606A"/>
                </a:solidFill>
                <a:latin typeface="Calibri" pitchFamily="34" charset="0"/>
                <a:ea typeface="Calibri" pitchFamily="34" charset="-122"/>
                <a:cs typeface="Calibri" pitchFamily="34" charset="-120"/>
              </a:rPr>
              <a:t>Annual funnel figures as briefed in the case.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DAY 2 · THE IDEAS YOU WILL USE</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From one lever to a governed system</a:t>
            </a:r>
            <a:endParaRPr lang="en-US" sz="3000" dirty="0"/>
          </a:p>
        </p:txBody>
      </p:sp>
      <p:sp>
        <p:nvSpPr>
          <p:cNvPr id="4" name="Shape 2"/>
          <p:cNvSpPr/>
          <p:nvPr/>
        </p:nvSpPr>
        <p:spPr>
          <a:xfrm>
            <a:off x="1097280" y="1417320"/>
            <a:ext cx="594360" cy="594360"/>
          </a:xfrm>
          <a:prstGeom prst="ellipse">
            <a:avLst/>
          </a:prstGeom>
          <a:solidFill>
            <a:srgbClr val="FBF0D6"/>
          </a:solidFill>
          <a:ln w="12700">
            <a:solidFill>
              <a:srgbClr val="FBF0D6"/>
            </a:solidFill>
            <a:prstDash val="solid"/>
          </a:ln>
        </p:spPr>
      </p:sp>
      <p:pic>
        <p:nvPicPr>
          <p:cNvPr id="5" name="Image 0" descr="preencoded.png">    </p:cNvPr>
          <p:cNvPicPr>
            <a:picLocks noChangeAspect="1"/>
          </p:cNvPicPr>
          <p:nvPr/>
        </p:nvPicPr>
        <p:blipFill>
          <a:blip r:embed="rId1"/>
          <a:stretch>
            <a:fillRect/>
          </a:stretch>
        </p:blipFill>
        <p:spPr>
          <a:xfrm>
            <a:off x="1245870" y="1565910"/>
            <a:ext cx="297180" cy="297180"/>
          </a:xfrm>
          <a:prstGeom prst="rect">
            <a:avLst/>
          </a:prstGeom>
        </p:spPr>
      </p:pic>
      <p:sp>
        <p:nvSpPr>
          <p:cNvPr id="6" name="Text 3"/>
          <p:cNvSpPr txBox="1"/>
          <p:nvPr/>
        </p:nvSpPr>
        <p:spPr>
          <a:xfrm>
            <a:off x="457200" y="2057400"/>
            <a:ext cx="1874520" cy="320040"/>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Goal</a:t>
            </a:r>
            <a:endParaRPr lang="en-US" sz="1300" dirty="0"/>
          </a:p>
        </p:txBody>
      </p:sp>
      <p:sp>
        <p:nvSpPr>
          <p:cNvPr id="7" name="Text 4"/>
          <p:cNvSpPr txBox="1"/>
          <p:nvPr/>
        </p:nvSpPr>
        <p:spPr>
          <a:xfrm>
            <a:off x="1920240" y="1508760"/>
            <a:ext cx="1005840" cy="411480"/>
          </a:xfrm>
          <a:prstGeom prst="rect">
            <a:avLst/>
          </a:prstGeom>
          <a:noFill/>
          <a:ln/>
        </p:spPr>
        <p:txBody>
          <a:bodyPr wrap="square" lIns="0" tIns="0" rIns="0" bIns="0" rtlCol="0" anchor="ctr"/>
          <a:lstStyle/>
          <a:p>
            <a:pPr algn="ctr" indent="0" marL="0">
              <a:buNone/>
            </a:pPr>
            <a:r>
              <a:rPr lang="en-US" sz="2000" dirty="0">
                <a:solidFill>
                  <a:srgbClr val="D99A2B"/>
                </a:solidFill>
                <a:latin typeface="Calibri" pitchFamily="34" charset="0"/>
                <a:ea typeface="Calibri" pitchFamily="34" charset="-122"/>
                <a:cs typeface="Calibri" pitchFamily="34" charset="-120"/>
              </a:rPr>
              <a:t>→</a:t>
            </a:r>
            <a:endParaRPr lang="en-US" sz="2000" dirty="0"/>
          </a:p>
        </p:txBody>
      </p:sp>
      <p:sp>
        <p:nvSpPr>
          <p:cNvPr id="8" name="Shape 5"/>
          <p:cNvSpPr/>
          <p:nvPr/>
        </p:nvSpPr>
        <p:spPr>
          <a:xfrm>
            <a:off x="3200400" y="1417320"/>
            <a:ext cx="594360" cy="594360"/>
          </a:xfrm>
          <a:prstGeom prst="ellipse">
            <a:avLst/>
          </a:prstGeom>
          <a:solidFill>
            <a:srgbClr val="FBF0D6"/>
          </a:solidFill>
          <a:ln w="12700">
            <a:solidFill>
              <a:srgbClr val="FBF0D6"/>
            </a:solidFill>
            <a:prstDash val="solid"/>
          </a:ln>
        </p:spPr>
      </p:sp>
      <p:pic>
        <p:nvPicPr>
          <p:cNvPr id="9" name="Image 1" descr="preencoded.png">    </p:cNvPr>
          <p:cNvPicPr>
            <a:picLocks noChangeAspect="1"/>
          </p:cNvPicPr>
          <p:nvPr/>
        </p:nvPicPr>
        <p:blipFill>
          <a:blip r:embed="rId2"/>
          <a:stretch>
            <a:fillRect/>
          </a:stretch>
        </p:blipFill>
        <p:spPr>
          <a:xfrm>
            <a:off x="3348990" y="1565910"/>
            <a:ext cx="297180" cy="297180"/>
          </a:xfrm>
          <a:prstGeom prst="rect">
            <a:avLst/>
          </a:prstGeom>
        </p:spPr>
      </p:pic>
      <p:sp>
        <p:nvSpPr>
          <p:cNvPr id="10" name="Text 6"/>
          <p:cNvSpPr txBox="1"/>
          <p:nvPr/>
        </p:nvSpPr>
        <p:spPr>
          <a:xfrm>
            <a:off x="2560320" y="2057400"/>
            <a:ext cx="1874520" cy="320040"/>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Action</a:t>
            </a:r>
            <a:endParaRPr lang="en-US" sz="1300" dirty="0"/>
          </a:p>
        </p:txBody>
      </p:sp>
      <p:sp>
        <p:nvSpPr>
          <p:cNvPr id="11" name="Text 7"/>
          <p:cNvSpPr txBox="1"/>
          <p:nvPr/>
        </p:nvSpPr>
        <p:spPr>
          <a:xfrm>
            <a:off x="4023360" y="1508760"/>
            <a:ext cx="1005840" cy="411480"/>
          </a:xfrm>
          <a:prstGeom prst="rect">
            <a:avLst/>
          </a:prstGeom>
          <a:noFill/>
          <a:ln/>
        </p:spPr>
        <p:txBody>
          <a:bodyPr wrap="square" lIns="0" tIns="0" rIns="0" bIns="0" rtlCol="0" anchor="ctr"/>
          <a:lstStyle/>
          <a:p>
            <a:pPr algn="ctr" indent="0" marL="0">
              <a:buNone/>
            </a:pPr>
            <a:r>
              <a:rPr lang="en-US" sz="2000" dirty="0">
                <a:solidFill>
                  <a:srgbClr val="D99A2B"/>
                </a:solidFill>
                <a:latin typeface="Calibri" pitchFamily="34" charset="0"/>
                <a:ea typeface="Calibri" pitchFamily="34" charset="-122"/>
                <a:cs typeface="Calibri" pitchFamily="34" charset="-120"/>
              </a:rPr>
              <a:t>→</a:t>
            </a:r>
            <a:endParaRPr lang="en-US" sz="2000" dirty="0"/>
          </a:p>
        </p:txBody>
      </p:sp>
      <p:sp>
        <p:nvSpPr>
          <p:cNvPr id="12" name="Shape 8"/>
          <p:cNvSpPr/>
          <p:nvPr/>
        </p:nvSpPr>
        <p:spPr>
          <a:xfrm>
            <a:off x="5303520" y="1417320"/>
            <a:ext cx="594360" cy="594360"/>
          </a:xfrm>
          <a:prstGeom prst="ellipse">
            <a:avLst/>
          </a:prstGeom>
          <a:solidFill>
            <a:srgbClr val="FBF0D6"/>
          </a:solidFill>
          <a:ln w="12700">
            <a:solidFill>
              <a:srgbClr val="FBF0D6"/>
            </a:solidFill>
            <a:prstDash val="solid"/>
          </a:ln>
        </p:spPr>
      </p:sp>
      <p:pic>
        <p:nvPicPr>
          <p:cNvPr id="13" name="Image 2" descr="preencoded.png">    </p:cNvPr>
          <p:cNvPicPr>
            <a:picLocks noChangeAspect="1"/>
          </p:cNvPicPr>
          <p:nvPr/>
        </p:nvPicPr>
        <p:blipFill>
          <a:blip r:embed="rId3"/>
          <a:stretch>
            <a:fillRect/>
          </a:stretch>
        </p:blipFill>
        <p:spPr>
          <a:xfrm>
            <a:off x="5452110" y="1565910"/>
            <a:ext cx="297180" cy="297180"/>
          </a:xfrm>
          <a:prstGeom prst="rect">
            <a:avLst/>
          </a:prstGeom>
        </p:spPr>
      </p:pic>
      <p:sp>
        <p:nvSpPr>
          <p:cNvPr id="14" name="Text 9"/>
          <p:cNvSpPr txBox="1"/>
          <p:nvPr/>
        </p:nvSpPr>
        <p:spPr>
          <a:xfrm>
            <a:off x="4663440" y="2057400"/>
            <a:ext cx="1874520" cy="320040"/>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KPI</a:t>
            </a:r>
            <a:endParaRPr lang="en-US" sz="1300" dirty="0"/>
          </a:p>
        </p:txBody>
      </p:sp>
      <p:sp>
        <p:nvSpPr>
          <p:cNvPr id="15" name="Text 10"/>
          <p:cNvSpPr txBox="1"/>
          <p:nvPr/>
        </p:nvSpPr>
        <p:spPr>
          <a:xfrm>
            <a:off x="6126480" y="1508760"/>
            <a:ext cx="1005840" cy="411480"/>
          </a:xfrm>
          <a:prstGeom prst="rect">
            <a:avLst/>
          </a:prstGeom>
          <a:noFill/>
          <a:ln/>
        </p:spPr>
        <p:txBody>
          <a:bodyPr wrap="square" lIns="0" tIns="0" rIns="0" bIns="0" rtlCol="0" anchor="ctr"/>
          <a:lstStyle/>
          <a:p>
            <a:pPr algn="ctr" indent="0" marL="0">
              <a:buNone/>
            </a:pPr>
            <a:r>
              <a:rPr lang="en-US" sz="2000" dirty="0">
                <a:solidFill>
                  <a:srgbClr val="D99A2B"/>
                </a:solidFill>
                <a:latin typeface="Calibri" pitchFamily="34" charset="0"/>
                <a:ea typeface="Calibri" pitchFamily="34" charset="-122"/>
                <a:cs typeface="Calibri" pitchFamily="34" charset="-120"/>
              </a:rPr>
              <a:t>→</a:t>
            </a:r>
            <a:endParaRPr lang="en-US" sz="2000" dirty="0"/>
          </a:p>
        </p:txBody>
      </p:sp>
      <p:sp>
        <p:nvSpPr>
          <p:cNvPr id="16" name="Shape 11"/>
          <p:cNvSpPr/>
          <p:nvPr/>
        </p:nvSpPr>
        <p:spPr>
          <a:xfrm>
            <a:off x="7406640" y="1417320"/>
            <a:ext cx="594360" cy="594360"/>
          </a:xfrm>
          <a:prstGeom prst="ellipse">
            <a:avLst/>
          </a:prstGeom>
          <a:solidFill>
            <a:srgbClr val="FBF0D6"/>
          </a:solidFill>
          <a:ln w="12700">
            <a:solidFill>
              <a:srgbClr val="FBF0D6"/>
            </a:solidFill>
            <a:prstDash val="solid"/>
          </a:ln>
        </p:spPr>
      </p:sp>
      <p:pic>
        <p:nvPicPr>
          <p:cNvPr id="17" name="Image 3" descr="preencoded.png">    </p:cNvPr>
          <p:cNvPicPr>
            <a:picLocks noChangeAspect="1"/>
          </p:cNvPicPr>
          <p:nvPr/>
        </p:nvPicPr>
        <p:blipFill>
          <a:blip r:embed="rId4"/>
          <a:stretch>
            <a:fillRect/>
          </a:stretch>
        </p:blipFill>
        <p:spPr>
          <a:xfrm>
            <a:off x="7555230" y="1565910"/>
            <a:ext cx="297180" cy="297180"/>
          </a:xfrm>
          <a:prstGeom prst="rect">
            <a:avLst/>
          </a:prstGeom>
        </p:spPr>
      </p:pic>
      <p:sp>
        <p:nvSpPr>
          <p:cNvPr id="18" name="Text 12"/>
          <p:cNvSpPr txBox="1"/>
          <p:nvPr/>
        </p:nvSpPr>
        <p:spPr>
          <a:xfrm>
            <a:off x="6766560" y="2057400"/>
            <a:ext cx="1874520" cy="320040"/>
          </a:xfrm>
          <a:prstGeom prst="rect">
            <a:avLst/>
          </a:prstGeom>
          <a:noFill/>
          <a:ln/>
        </p:spPr>
        <p:txBody>
          <a:bodyPr wrap="square" lIns="0" tIns="0" rIns="0" bIns="0" rtlCol="0" anchor="ctr"/>
          <a:lstStyle/>
          <a:p>
            <a:pPr algn="ctr" indent="0" marL="0">
              <a:buNone/>
            </a:pPr>
            <a:r>
              <a:rPr lang="en-US" sz="1300" b="1" dirty="0">
                <a:solidFill>
                  <a:srgbClr val="1F2328"/>
                </a:solidFill>
                <a:latin typeface="Calibri" pitchFamily="34" charset="0"/>
                <a:ea typeface="Calibri" pitchFamily="34" charset="-122"/>
                <a:cs typeface="Calibri" pitchFamily="34" charset="-120"/>
              </a:rPr>
              <a:t>Owner · cadence · trigger</a:t>
            </a:r>
            <a:endParaRPr lang="en-US" sz="1300" dirty="0"/>
          </a:p>
        </p:txBody>
      </p:sp>
      <p:sp>
        <p:nvSpPr>
          <p:cNvPr id="19" name="Text 13"/>
          <p:cNvSpPr txBox="1"/>
          <p:nvPr/>
        </p:nvSpPr>
        <p:spPr>
          <a:xfrm>
            <a:off x="457200" y="2606040"/>
            <a:ext cx="1188720" cy="548640"/>
          </a:xfrm>
          <a:prstGeom prst="rect">
            <a:avLst/>
          </a:prstGeom>
          <a:noFill/>
          <a:ln/>
        </p:spPr>
        <p:txBody>
          <a:bodyPr wrap="square" lIns="0" tIns="0" rIns="0" bIns="0" rtlCol="0" anchor="t"/>
          <a:lstStyle/>
          <a:p>
            <a:pPr indent="0" marL="0">
              <a:buNone/>
            </a:pPr>
            <a:r>
              <a:rPr lang="en-US" sz="1300" b="1" dirty="0">
                <a:solidFill>
                  <a:srgbClr val="0F6B6B"/>
                </a:solidFill>
                <a:latin typeface="Calibri" pitchFamily="34" charset="0"/>
                <a:ea typeface="Calibri" pitchFamily="34" charset="-122"/>
                <a:cs typeface="Calibri" pitchFamily="34" charset="-120"/>
              </a:rPr>
              <a:t>Materi A</a:t>
            </a:r>
            <a:endParaRPr lang="en-US" sz="1300" dirty="0"/>
          </a:p>
        </p:txBody>
      </p:sp>
      <p:sp>
        <p:nvSpPr>
          <p:cNvPr id="20" name="Text 14"/>
          <p:cNvSpPr txBox="1"/>
          <p:nvPr/>
        </p:nvSpPr>
        <p:spPr>
          <a:xfrm>
            <a:off x="1645920" y="2606040"/>
            <a:ext cx="7040880" cy="603504"/>
          </a:xfrm>
          <a:prstGeom prst="rect">
            <a:avLst/>
          </a:prstGeom>
          <a:noFill/>
          <a:ln/>
        </p:spPr>
        <p:txBody>
          <a:bodyPr wrap="square" lIns="0" tIns="0" rIns="0" bIns="0" rtlCol="0" anchor="t"/>
          <a:lstStyle/>
          <a:p>
            <a:pPr indent="0" marL="0">
              <a:buNone/>
            </a:pPr>
            <a:r>
              <a:rPr lang="en-US" sz="1150" dirty="0">
                <a:solidFill>
                  <a:srgbClr val="1F2328"/>
                </a:solidFill>
                <a:latin typeface="Calibri" pitchFamily="34" charset="0"/>
                <a:ea typeface="Calibri" pitchFamily="34" charset="-122"/>
                <a:cs typeface="Calibri" pitchFamily="34" charset="-120"/>
              </a:rPr>
              <a:t>Buying motive → sales action; the journey in three phases (pre-sales, sales, after-sales); trust, relevance and consistency at each touchpoint; conversion, customer value, repurchase.</a:t>
            </a:r>
            <a:endParaRPr lang="en-US" sz="1150" dirty="0"/>
          </a:p>
        </p:txBody>
      </p:sp>
      <p:sp>
        <p:nvSpPr>
          <p:cNvPr id="21" name="Text 15"/>
          <p:cNvSpPr txBox="1"/>
          <p:nvPr/>
        </p:nvSpPr>
        <p:spPr>
          <a:xfrm>
            <a:off x="457200" y="3264408"/>
            <a:ext cx="1188720" cy="548640"/>
          </a:xfrm>
          <a:prstGeom prst="rect">
            <a:avLst/>
          </a:prstGeom>
          <a:noFill/>
          <a:ln/>
        </p:spPr>
        <p:txBody>
          <a:bodyPr wrap="square" lIns="0" tIns="0" rIns="0" bIns="0" rtlCol="0" anchor="t"/>
          <a:lstStyle/>
          <a:p>
            <a:pPr indent="0" marL="0">
              <a:buNone/>
            </a:pPr>
            <a:r>
              <a:rPr lang="en-US" sz="1300" b="1" dirty="0">
                <a:solidFill>
                  <a:srgbClr val="0F6B6B"/>
                </a:solidFill>
                <a:latin typeface="Calibri" pitchFamily="34" charset="0"/>
                <a:ea typeface="Calibri" pitchFamily="34" charset="-122"/>
                <a:cs typeface="Calibri" pitchFamily="34" charset="-120"/>
              </a:rPr>
              <a:t>Materi B</a:t>
            </a:r>
            <a:endParaRPr lang="en-US" sz="1300" dirty="0"/>
          </a:p>
        </p:txBody>
      </p:sp>
      <p:sp>
        <p:nvSpPr>
          <p:cNvPr id="22" name="Text 16"/>
          <p:cNvSpPr txBox="1"/>
          <p:nvPr/>
        </p:nvSpPr>
        <p:spPr>
          <a:xfrm>
            <a:off x="1645920" y="3264408"/>
            <a:ext cx="7040880" cy="603504"/>
          </a:xfrm>
          <a:prstGeom prst="rect">
            <a:avLst/>
          </a:prstGeom>
          <a:noFill/>
          <a:ln/>
        </p:spPr>
        <p:txBody>
          <a:bodyPr wrap="square" lIns="0" tIns="0" rIns="0" bIns="0" rtlCol="0" anchor="t"/>
          <a:lstStyle/>
          <a:p>
            <a:pPr indent="0" marL="0">
              <a:buNone/>
            </a:pPr>
            <a:r>
              <a:rPr lang="en-US" sz="1150" dirty="0">
                <a:solidFill>
                  <a:srgbClr val="1F2328"/>
                </a:solidFill>
                <a:latin typeface="Calibri" pitchFamily="34" charset="0"/>
                <a:ea typeface="Calibri" pitchFamily="34" charset="-122"/>
                <a:cs typeface="Calibri" pitchFamily="34" charset="-120"/>
              </a:rPr>
              <a:t>Three ways to retain; why segments respond differently; gross profit per repeat order as the unit of comparison; why a discount is weak against relationship churn.</a:t>
            </a:r>
            <a:endParaRPr lang="en-US" sz="1150" dirty="0"/>
          </a:p>
        </p:txBody>
      </p:sp>
      <p:sp>
        <p:nvSpPr>
          <p:cNvPr id="23" name="Text 17"/>
          <p:cNvSpPr txBox="1"/>
          <p:nvPr/>
        </p:nvSpPr>
        <p:spPr>
          <a:xfrm>
            <a:off x="457200" y="3922776"/>
            <a:ext cx="1188720" cy="548640"/>
          </a:xfrm>
          <a:prstGeom prst="rect">
            <a:avLst/>
          </a:prstGeom>
          <a:noFill/>
          <a:ln/>
        </p:spPr>
        <p:txBody>
          <a:bodyPr wrap="square" lIns="0" tIns="0" rIns="0" bIns="0" rtlCol="0" anchor="t"/>
          <a:lstStyle/>
          <a:p>
            <a:pPr indent="0" marL="0">
              <a:buNone/>
            </a:pPr>
            <a:r>
              <a:rPr lang="en-US" sz="1300" b="1" dirty="0">
                <a:solidFill>
                  <a:srgbClr val="0F6B6B"/>
                </a:solidFill>
                <a:latin typeface="Calibri" pitchFamily="34" charset="0"/>
                <a:ea typeface="Calibri" pitchFamily="34" charset="-122"/>
                <a:cs typeface="Calibri" pitchFamily="34" charset="-120"/>
              </a:rPr>
              <a:t>Materi C</a:t>
            </a:r>
            <a:endParaRPr lang="en-US" sz="1300" dirty="0"/>
          </a:p>
        </p:txBody>
      </p:sp>
      <p:sp>
        <p:nvSpPr>
          <p:cNvPr id="24" name="Text 18"/>
          <p:cNvSpPr txBox="1"/>
          <p:nvPr/>
        </p:nvSpPr>
        <p:spPr>
          <a:xfrm>
            <a:off x="1645920" y="3922776"/>
            <a:ext cx="7040880" cy="603504"/>
          </a:xfrm>
          <a:prstGeom prst="rect">
            <a:avLst/>
          </a:prstGeom>
          <a:noFill/>
          <a:ln/>
        </p:spPr>
        <p:txBody>
          <a:bodyPr wrap="square" lIns="0" tIns="0" rIns="0" bIns="0" rtlCol="0" anchor="t"/>
          <a:lstStyle/>
          <a:p>
            <a:pPr indent="0" marL="0">
              <a:buNone/>
            </a:pPr>
            <a:r>
              <a:rPr lang="en-US" sz="1150" dirty="0">
                <a:solidFill>
                  <a:srgbClr val="1F2328"/>
                </a:solidFill>
                <a:latin typeface="Calibri" pitchFamily="34" charset="0"/>
                <a:ea typeface="Calibri" pitchFamily="34" charset="-122"/>
                <a:cs typeface="Calibri" pitchFamily="34" charset="-120"/>
              </a:rPr>
              <a:t>A one-off fix against a governed system; what moves one deal vs what moves the whole base; who owns each KPI and when it triggers action.</a:t>
            </a:r>
            <a:endParaRPr lang="en-US" sz="1150" dirty="0"/>
          </a:p>
        </p:txBody>
      </p:sp>
      <p:sp>
        <p:nvSpPr>
          <p:cNvPr id="25"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HOW WE WORK IN THE SESSIONS</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The app gives clues, not answers</a:t>
            </a:r>
            <a:endParaRPr lang="en-US" sz="3000" dirty="0"/>
          </a:p>
        </p:txBody>
      </p:sp>
      <p:sp>
        <p:nvSpPr>
          <p:cNvPr id="4" name="Shape 2"/>
          <p:cNvSpPr/>
          <p:nvPr/>
        </p:nvSpPr>
        <p:spPr>
          <a:xfrm>
            <a:off x="457200" y="1463040"/>
            <a:ext cx="4023360" cy="1371600"/>
          </a:xfrm>
          <a:prstGeom prst="roundRect">
            <a:avLst>
              <a:gd name="adj" fmla="val 5333"/>
            </a:avLst>
          </a:prstGeom>
          <a:solidFill>
            <a:srgbClr val="FFFFFF"/>
          </a:solidFill>
          <a:ln w="9525">
            <a:solidFill>
              <a:srgbClr val="D8D1BF"/>
            </a:solidFill>
            <a:prstDash val="solid"/>
          </a:ln>
        </p:spPr>
      </p:sp>
      <p:sp>
        <p:nvSpPr>
          <p:cNvPr id="5" name="Shape 3"/>
          <p:cNvSpPr/>
          <p:nvPr/>
        </p:nvSpPr>
        <p:spPr>
          <a:xfrm>
            <a:off x="640080" y="1691640"/>
            <a:ext cx="548640" cy="548640"/>
          </a:xfrm>
          <a:prstGeom prst="ellipse">
            <a:avLst/>
          </a:prstGeom>
          <a:solidFill>
            <a:srgbClr val="DFEEEB"/>
          </a:solidFill>
          <a:ln w="12700">
            <a:solidFill>
              <a:srgbClr val="DFEEEB"/>
            </a:solidFill>
            <a:prstDash val="solid"/>
          </a:ln>
        </p:spPr>
      </p:sp>
      <p:pic>
        <p:nvPicPr>
          <p:cNvPr id="6" name="Image 0" descr="preencoded.png">    </p:cNvPr>
          <p:cNvPicPr>
            <a:picLocks noChangeAspect="1"/>
          </p:cNvPicPr>
          <p:nvPr/>
        </p:nvPicPr>
        <p:blipFill>
          <a:blip r:embed="rId1"/>
          <a:stretch>
            <a:fillRect/>
          </a:stretch>
        </p:blipFill>
        <p:spPr>
          <a:xfrm>
            <a:off x="777240" y="1828800"/>
            <a:ext cx="274320" cy="274320"/>
          </a:xfrm>
          <a:prstGeom prst="rect">
            <a:avLst/>
          </a:prstGeom>
        </p:spPr>
      </p:pic>
      <p:sp>
        <p:nvSpPr>
          <p:cNvPr id="7" name="Text 4"/>
          <p:cNvSpPr txBox="1"/>
          <p:nvPr/>
        </p:nvSpPr>
        <p:spPr>
          <a:xfrm>
            <a:off x="1371600" y="1645920"/>
            <a:ext cx="297180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Check on request</a:t>
            </a:r>
            <a:endParaRPr lang="en-US" sz="1400" dirty="0"/>
          </a:p>
        </p:txBody>
      </p:sp>
      <p:sp>
        <p:nvSpPr>
          <p:cNvPr id="8" name="Text 5"/>
          <p:cNvSpPr txBox="1"/>
          <p:nvPr/>
        </p:nvSpPr>
        <p:spPr>
          <a:xfrm>
            <a:off x="1371600" y="1993392"/>
            <a:ext cx="2971800" cy="731520"/>
          </a:xfrm>
          <a:prstGeom prst="rect">
            <a:avLst/>
          </a:prstGeom>
          <a:noFill/>
          <a:ln/>
        </p:spPr>
        <p:txBody>
          <a:bodyPr wrap="square" lIns="0" tIns="0" rIns="0" bIns="0" rtlCol="0" anchor="t"/>
          <a:lstStyle/>
          <a:p>
            <a:pPr indent="0" marL="0">
              <a:buNone/>
            </a:pPr>
            <a:r>
              <a:rPr lang="en-US" sz="1150" dirty="0">
                <a:solidFill>
                  <a:srgbClr val="59606A"/>
                </a:solidFill>
                <a:latin typeface="Calibri" pitchFamily="34" charset="0"/>
                <a:ea typeface="Calibri" pitchFamily="34" charset="-122"/>
                <a:cs typeface="Calibri" pitchFamily="34" charset="-120"/>
              </a:rPr>
              <a:t>Press Check when you are ready. A flagged item gets a question that helps you test it, never the answer.</a:t>
            </a:r>
            <a:endParaRPr lang="en-US" sz="1150" dirty="0"/>
          </a:p>
        </p:txBody>
      </p:sp>
      <p:sp>
        <p:nvSpPr>
          <p:cNvPr id="9" name="Shape 6"/>
          <p:cNvSpPr/>
          <p:nvPr/>
        </p:nvSpPr>
        <p:spPr>
          <a:xfrm>
            <a:off x="4663440" y="1463040"/>
            <a:ext cx="4023360" cy="1371600"/>
          </a:xfrm>
          <a:prstGeom prst="roundRect">
            <a:avLst>
              <a:gd name="adj" fmla="val 5333"/>
            </a:avLst>
          </a:prstGeom>
          <a:solidFill>
            <a:srgbClr val="FFFFFF"/>
          </a:solidFill>
          <a:ln w="9525">
            <a:solidFill>
              <a:srgbClr val="D8D1BF"/>
            </a:solidFill>
            <a:prstDash val="solid"/>
          </a:ln>
        </p:spPr>
      </p:sp>
      <p:sp>
        <p:nvSpPr>
          <p:cNvPr id="10" name="Shape 7"/>
          <p:cNvSpPr/>
          <p:nvPr/>
        </p:nvSpPr>
        <p:spPr>
          <a:xfrm>
            <a:off x="4846320" y="1691640"/>
            <a:ext cx="548640" cy="548640"/>
          </a:xfrm>
          <a:prstGeom prst="ellipse">
            <a:avLst/>
          </a:prstGeom>
          <a:solidFill>
            <a:srgbClr val="DFEEEB"/>
          </a:solidFill>
          <a:ln w="12700">
            <a:solidFill>
              <a:srgbClr val="DFEEEB"/>
            </a:solidFill>
            <a:prstDash val="solid"/>
          </a:ln>
        </p:spPr>
      </p:sp>
      <p:pic>
        <p:nvPicPr>
          <p:cNvPr id="11" name="Image 1" descr="preencoded.png">    </p:cNvPr>
          <p:cNvPicPr>
            <a:picLocks noChangeAspect="1"/>
          </p:cNvPicPr>
          <p:nvPr/>
        </p:nvPicPr>
        <p:blipFill>
          <a:blip r:embed="rId2"/>
          <a:stretch>
            <a:fillRect/>
          </a:stretch>
        </p:blipFill>
        <p:spPr>
          <a:xfrm>
            <a:off x="4983480" y="1828800"/>
            <a:ext cx="274320" cy="274320"/>
          </a:xfrm>
          <a:prstGeom prst="rect">
            <a:avLst/>
          </a:prstGeom>
        </p:spPr>
      </p:pic>
      <p:sp>
        <p:nvSpPr>
          <p:cNvPr id="12" name="Text 8"/>
          <p:cNvSpPr txBox="1"/>
          <p:nvPr/>
        </p:nvSpPr>
        <p:spPr>
          <a:xfrm>
            <a:off x="5577840" y="1645920"/>
            <a:ext cx="297180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Nothing is locked</a:t>
            </a:r>
            <a:endParaRPr lang="en-US" sz="1400" dirty="0"/>
          </a:p>
        </p:txBody>
      </p:sp>
      <p:sp>
        <p:nvSpPr>
          <p:cNvPr id="13" name="Text 9"/>
          <p:cNvSpPr txBox="1"/>
          <p:nvPr/>
        </p:nvSpPr>
        <p:spPr>
          <a:xfrm>
            <a:off x="5577840" y="1993392"/>
            <a:ext cx="2971800" cy="731520"/>
          </a:xfrm>
          <a:prstGeom prst="rect">
            <a:avLst/>
          </a:prstGeom>
          <a:noFill/>
          <a:ln/>
        </p:spPr>
        <p:txBody>
          <a:bodyPr wrap="square" lIns="0" tIns="0" rIns="0" bIns="0" rtlCol="0" anchor="t"/>
          <a:lstStyle/>
          <a:p>
            <a:pPr indent="0" marL="0">
              <a:buNone/>
            </a:pPr>
            <a:r>
              <a:rPr lang="en-US" sz="1150" dirty="0">
                <a:solidFill>
                  <a:srgbClr val="59606A"/>
                </a:solidFill>
                <a:latin typeface="Calibri" pitchFamily="34" charset="0"/>
                <a:ea typeface="Calibri" pitchFamily="34" charset="-122"/>
                <a:cs typeface="Calibri" pitchFamily="34" charset="-120"/>
              </a:rPr>
              <a:t>Every route and every day is open. The suggested order is 1 → 2 → 3.</a:t>
            </a:r>
            <a:endParaRPr lang="en-US" sz="1150" dirty="0"/>
          </a:p>
        </p:txBody>
      </p:sp>
      <p:sp>
        <p:nvSpPr>
          <p:cNvPr id="14" name="Shape 10"/>
          <p:cNvSpPr/>
          <p:nvPr/>
        </p:nvSpPr>
        <p:spPr>
          <a:xfrm>
            <a:off x="457200" y="3017520"/>
            <a:ext cx="4023360" cy="1371600"/>
          </a:xfrm>
          <a:prstGeom prst="roundRect">
            <a:avLst>
              <a:gd name="adj" fmla="val 5333"/>
            </a:avLst>
          </a:prstGeom>
          <a:solidFill>
            <a:srgbClr val="FFFFFF"/>
          </a:solidFill>
          <a:ln w="9525">
            <a:solidFill>
              <a:srgbClr val="D8D1BF"/>
            </a:solidFill>
            <a:prstDash val="solid"/>
          </a:ln>
        </p:spPr>
      </p:sp>
      <p:sp>
        <p:nvSpPr>
          <p:cNvPr id="15" name="Shape 11"/>
          <p:cNvSpPr/>
          <p:nvPr/>
        </p:nvSpPr>
        <p:spPr>
          <a:xfrm>
            <a:off x="640080" y="3246120"/>
            <a:ext cx="548640" cy="548640"/>
          </a:xfrm>
          <a:prstGeom prst="ellipse">
            <a:avLst/>
          </a:prstGeom>
          <a:solidFill>
            <a:srgbClr val="DFEEEB"/>
          </a:solidFill>
          <a:ln w="12700">
            <a:solidFill>
              <a:srgbClr val="DFEEEB"/>
            </a:solidFill>
            <a:prstDash val="solid"/>
          </a:ln>
        </p:spPr>
      </p:sp>
      <p:pic>
        <p:nvPicPr>
          <p:cNvPr id="16" name="Image 2" descr="preencoded.png">    </p:cNvPr>
          <p:cNvPicPr>
            <a:picLocks noChangeAspect="1"/>
          </p:cNvPicPr>
          <p:nvPr/>
        </p:nvPicPr>
        <p:blipFill>
          <a:blip r:embed="rId3"/>
          <a:stretch>
            <a:fillRect/>
          </a:stretch>
        </p:blipFill>
        <p:spPr>
          <a:xfrm>
            <a:off x="777240" y="3383280"/>
            <a:ext cx="274320" cy="274320"/>
          </a:xfrm>
          <a:prstGeom prst="rect">
            <a:avLst/>
          </a:prstGeom>
        </p:spPr>
      </p:pic>
      <p:sp>
        <p:nvSpPr>
          <p:cNvPr id="17" name="Text 12"/>
          <p:cNvSpPr txBox="1"/>
          <p:nvPr/>
        </p:nvSpPr>
        <p:spPr>
          <a:xfrm>
            <a:off x="1371600" y="3200400"/>
            <a:ext cx="297180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Every term is one click away</a:t>
            </a:r>
            <a:endParaRPr lang="en-US" sz="1400" dirty="0"/>
          </a:p>
        </p:txBody>
      </p:sp>
      <p:sp>
        <p:nvSpPr>
          <p:cNvPr id="18" name="Text 13"/>
          <p:cNvSpPr txBox="1"/>
          <p:nvPr/>
        </p:nvSpPr>
        <p:spPr>
          <a:xfrm>
            <a:off x="1371600" y="3547872"/>
            <a:ext cx="2971800" cy="731520"/>
          </a:xfrm>
          <a:prstGeom prst="rect">
            <a:avLst/>
          </a:prstGeom>
          <a:noFill/>
          <a:ln/>
        </p:spPr>
        <p:txBody>
          <a:bodyPr wrap="square" lIns="0" tIns="0" rIns="0" bIns="0" rtlCol="0" anchor="t"/>
          <a:lstStyle/>
          <a:p>
            <a:pPr indent="0" marL="0">
              <a:buNone/>
            </a:pPr>
            <a:r>
              <a:rPr lang="en-US" sz="1150" dirty="0">
                <a:solidFill>
                  <a:srgbClr val="59606A"/>
                </a:solidFill>
                <a:latin typeface="Calibri" pitchFamily="34" charset="0"/>
                <a:ea typeface="Calibri" pitchFamily="34" charset="-122"/>
                <a:cs typeface="Calibri" pitchFamily="34" charset="-120"/>
              </a:rPr>
              <a:t>Dotted-underlined words open a short, plain explanation.</a:t>
            </a:r>
            <a:endParaRPr lang="en-US" sz="1150" dirty="0"/>
          </a:p>
        </p:txBody>
      </p:sp>
      <p:sp>
        <p:nvSpPr>
          <p:cNvPr id="19" name="Shape 14"/>
          <p:cNvSpPr/>
          <p:nvPr/>
        </p:nvSpPr>
        <p:spPr>
          <a:xfrm>
            <a:off x="4663440" y="3017520"/>
            <a:ext cx="4023360" cy="1371600"/>
          </a:xfrm>
          <a:prstGeom prst="roundRect">
            <a:avLst>
              <a:gd name="adj" fmla="val 5333"/>
            </a:avLst>
          </a:prstGeom>
          <a:solidFill>
            <a:srgbClr val="FFFFFF"/>
          </a:solidFill>
          <a:ln w="9525">
            <a:solidFill>
              <a:srgbClr val="D8D1BF"/>
            </a:solidFill>
            <a:prstDash val="solid"/>
          </a:ln>
        </p:spPr>
      </p:sp>
      <p:sp>
        <p:nvSpPr>
          <p:cNvPr id="20" name="Shape 15"/>
          <p:cNvSpPr/>
          <p:nvPr/>
        </p:nvSpPr>
        <p:spPr>
          <a:xfrm>
            <a:off x="4846320" y="3246120"/>
            <a:ext cx="548640" cy="548640"/>
          </a:xfrm>
          <a:prstGeom prst="ellipse">
            <a:avLst/>
          </a:prstGeom>
          <a:solidFill>
            <a:srgbClr val="DFEEEB"/>
          </a:solidFill>
          <a:ln w="12700">
            <a:solidFill>
              <a:srgbClr val="DFEEEB"/>
            </a:solidFill>
            <a:prstDash val="solid"/>
          </a:ln>
        </p:spPr>
      </p:sp>
      <p:pic>
        <p:nvPicPr>
          <p:cNvPr id="21" name="Image 3" descr="preencoded.png">    </p:cNvPr>
          <p:cNvPicPr>
            <a:picLocks noChangeAspect="1"/>
          </p:cNvPicPr>
          <p:nvPr/>
        </p:nvPicPr>
        <p:blipFill>
          <a:blip r:embed="rId4"/>
          <a:stretch>
            <a:fillRect/>
          </a:stretch>
        </p:blipFill>
        <p:spPr>
          <a:xfrm>
            <a:off x="4983480" y="3383280"/>
            <a:ext cx="274320" cy="274320"/>
          </a:xfrm>
          <a:prstGeom prst="rect">
            <a:avLst/>
          </a:prstGeom>
        </p:spPr>
      </p:pic>
      <p:sp>
        <p:nvSpPr>
          <p:cNvPr id="22" name="Text 16"/>
          <p:cNvSpPr txBox="1"/>
          <p:nvPr/>
        </p:nvSpPr>
        <p:spPr>
          <a:xfrm>
            <a:off x="5577840" y="3200400"/>
            <a:ext cx="2971800" cy="320040"/>
          </a:xfrm>
          <a:prstGeom prst="rect">
            <a:avLst/>
          </a:prstGeom>
          <a:noFill/>
          <a:ln/>
        </p:spPr>
        <p:txBody>
          <a:bodyPr wrap="square" lIns="0" tIns="0" rIns="0" bIns="0" rtlCol="0" anchor="ctr"/>
          <a:lstStyle/>
          <a:p>
            <a:pPr indent="0" marL="0">
              <a:buNone/>
            </a:pPr>
            <a:r>
              <a:rPr lang="en-US" sz="1400" b="1" dirty="0">
                <a:solidFill>
                  <a:srgbClr val="1F2328"/>
                </a:solidFill>
                <a:latin typeface="Calibri" pitchFamily="34" charset="0"/>
                <a:ea typeface="Calibri" pitchFamily="34" charset="-122"/>
                <a:cs typeface="Calibri" pitchFamily="34" charset="-120"/>
              </a:rPr>
              <a:t>Missing items point to the spot</a:t>
            </a:r>
            <a:endParaRPr lang="en-US" sz="1400" dirty="0"/>
          </a:p>
        </p:txBody>
      </p:sp>
      <p:sp>
        <p:nvSpPr>
          <p:cNvPr id="23" name="Text 17"/>
          <p:cNvSpPr txBox="1"/>
          <p:nvPr/>
        </p:nvSpPr>
        <p:spPr>
          <a:xfrm>
            <a:off x="5577840" y="3547872"/>
            <a:ext cx="2971800" cy="731520"/>
          </a:xfrm>
          <a:prstGeom prst="rect">
            <a:avLst/>
          </a:prstGeom>
          <a:noFill/>
          <a:ln/>
        </p:spPr>
        <p:txBody>
          <a:bodyPr wrap="square" lIns="0" tIns="0" rIns="0" bIns="0" rtlCol="0" anchor="t"/>
          <a:lstStyle/>
          <a:p>
            <a:pPr indent="0" marL="0">
              <a:buNone/>
            </a:pPr>
            <a:r>
              <a:rPr lang="en-US" sz="1150" dirty="0">
                <a:solidFill>
                  <a:srgbClr val="59606A"/>
                </a:solidFill>
                <a:latin typeface="Calibri" pitchFamily="34" charset="0"/>
                <a:ea typeface="Calibri" pitchFamily="34" charset="-122"/>
                <a:cs typeface="Calibri" pitchFamily="34" charset="-120"/>
              </a:rPr>
              <a:t>Export shows exactly what is still open; a click takes you there.</a:t>
            </a:r>
            <a:endParaRPr lang="en-US" sz="1150" dirty="0"/>
          </a:p>
        </p:txBody>
      </p:sp>
      <p:sp>
        <p:nvSpPr>
          <p:cNvPr id="24"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8A5A0B"/>
                </a:solidFill>
                <a:latin typeface="Calibri" pitchFamily="34" charset="0"/>
                <a:ea typeface="Calibri" pitchFamily="34" charset="-122"/>
                <a:cs typeface="Calibri" pitchFamily="34" charset="-120"/>
              </a:rPr>
              <a:t>WHAT'S IN IT FOR YOU</a:t>
            </a:r>
            <a:endParaRPr lang="en-US" sz="1100" dirty="0"/>
          </a:p>
        </p:txBody>
      </p:sp>
      <p:sp>
        <p:nvSpPr>
          <p:cNvPr id="3" name="Text 1"/>
          <p:cNvSpPr txBox="1"/>
          <p:nvPr/>
        </p:nvSpPr>
        <p:spPr>
          <a:xfrm>
            <a:off x="457200" y="566928"/>
            <a:ext cx="8229600" cy="685800"/>
          </a:xfrm>
          <a:prstGeom prst="rect">
            <a:avLst/>
          </a:prstGeom>
          <a:noFill/>
          <a:ln/>
        </p:spPr>
        <p:txBody>
          <a:bodyPr wrap="square" lIns="0" tIns="0" rIns="0" bIns="0" rtlCol="0" anchor="t"/>
          <a:lstStyle/>
          <a:p>
            <a:pPr indent="0" marL="0">
              <a:buNone/>
            </a:pPr>
            <a:r>
              <a:rPr lang="en-US" sz="3000" b="1" dirty="0">
                <a:solidFill>
                  <a:srgbClr val="1F2328"/>
                </a:solidFill>
                <a:latin typeface="Cambria" pitchFamily="34" charset="0"/>
                <a:ea typeface="Cambria" pitchFamily="34" charset="-122"/>
                <a:cs typeface="Cambria" pitchFamily="34" charset="-120"/>
              </a:rPr>
              <a:t>Skills you take back to your own desk</a:t>
            </a:r>
            <a:endParaRPr lang="en-US" sz="3000" dirty="0"/>
          </a:p>
        </p:txBody>
      </p:sp>
      <p:sp>
        <p:nvSpPr>
          <p:cNvPr id="4" name="Text 2"/>
          <p:cNvSpPr txBox="1"/>
          <p:nvPr/>
        </p:nvSpPr>
        <p:spPr>
          <a:xfrm>
            <a:off x="457200" y="141732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01</a:t>
            </a:r>
            <a:endParaRPr lang="en-US" sz="2400" dirty="0"/>
          </a:p>
        </p:txBody>
      </p:sp>
      <p:sp>
        <p:nvSpPr>
          <p:cNvPr id="5" name="Text 3"/>
          <p:cNvSpPr txBox="1"/>
          <p:nvPr/>
        </p:nvSpPr>
        <p:spPr>
          <a:xfrm>
            <a:off x="1051560" y="141732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Tell evidence from opinion</a:t>
            </a:r>
            <a:endParaRPr lang="en-US" sz="1300" dirty="0"/>
          </a:p>
        </p:txBody>
      </p:sp>
      <p:sp>
        <p:nvSpPr>
          <p:cNvPr id="6" name="Text 4"/>
          <p:cNvSpPr txBox="1"/>
          <p:nvPr/>
        </p:nvSpPr>
        <p:spPr>
          <a:xfrm>
            <a:off x="1051560" y="174650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Your conclusions hold up when someone asks “how do you know?”</a:t>
            </a:r>
            <a:endParaRPr lang="en-US" sz="1100" dirty="0"/>
          </a:p>
        </p:txBody>
      </p:sp>
      <p:sp>
        <p:nvSpPr>
          <p:cNvPr id="7" name="Text 5"/>
          <p:cNvSpPr txBox="1"/>
          <p:nvPr/>
        </p:nvSpPr>
        <p:spPr>
          <a:xfrm>
            <a:off x="4663440" y="141732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02</a:t>
            </a:r>
            <a:endParaRPr lang="en-US" sz="2400" dirty="0"/>
          </a:p>
        </p:txBody>
      </p:sp>
      <p:sp>
        <p:nvSpPr>
          <p:cNvPr id="8" name="Text 6"/>
          <p:cNvSpPr txBox="1"/>
          <p:nvPr/>
        </p:nvSpPr>
        <p:spPr>
          <a:xfrm>
            <a:off x="5257800" y="141732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See where customers slip away</a:t>
            </a:r>
            <a:endParaRPr lang="en-US" sz="1300" dirty="0"/>
          </a:p>
        </p:txBody>
      </p:sp>
      <p:sp>
        <p:nvSpPr>
          <p:cNvPr id="9" name="Text 7"/>
          <p:cNvSpPr txBox="1"/>
          <p:nvPr/>
        </p:nvSpPr>
        <p:spPr>
          <a:xfrm>
            <a:off x="5257800" y="174650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Spot the unowned stretch after go-live where the next order is decided.</a:t>
            </a:r>
            <a:endParaRPr lang="en-US" sz="1100" dirty="0"/>
          </a:p>
        </p:txBody>
      </p:sp>
      <p:sp>
        <p:nvSpPr>
          <p:cNvPr id="10" name="Text 8"/>
          <p:cNvSpPr txBox="1"/>
          <p:nvPr/>
        </p:nvSpPr>
        <p:spPr>
          <a:xfrm>
            <a:off x="457200" y="246888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03</a:t>
            </a:r>
            <a:endParaRPr lang="en-US" sz="2400" dirty="0"/>
          </a:p>
        </p:txBody>
      </p:sp>
      <p:sp>
        <p:nvSpPr>
          <p:cNvPr id="11" name="Text 9"/>
          <p:cNvSpPr txBox="1"/>
          <p:nvPr/>
        </p:nvSpPr>
        <p:spPr>
          <a:xfrm>
            <a:off x="1051560" y="246888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Compare offers the way buyers do</a:t>
            </a:r>
            <a:endParaRPr lang="en-US" sz="1300" dirty="0"/>
          </a:p>
        </p:txBody>
      </p:sp>
      <p:sp>
        <p:nvSpPr>
          <p:cNvPr id="12" name="Text 10"/>
          <p:cNvSpPr txBox="1"/>
          <p:nvPr/>
        </p:nvSpPr>
        <p:spPr>
          <a:xfrm>
            <a:off x="1051560" y="279806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Total cost over the contract, risk in euros, beyond the cheapest price.</a:t>
            </a:r>
            <a:endParaRPr lang="en-US" sz="1100" dirty="0"/>
          </a:p>
        </p:txBody>
      </p:sp>
      <p:sp>
        <p:nvSpPr>
          <p:cNvPr id="13" name="Text 11"/>
          <p:cNvSpPr txBox="1"/>
          <p:nvPr/>
        </p:nvSpPr>
        <p:spPr>
          <a:xfrm>
            <a:off x="4663440" y="246888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04</a:t>
            </a:r>
            <a:endParaRPr lang="en-US" sz="2400" dirty="0"/>
          </a:p>
        </p:txBody>
      </p:sp>
      <p:sp>
        <p:nvSpPr>
          <p:cNvPr id="14" name="Text 12"/>
          <p:cNvSpPr txBox="1"/>
          <p:nvPr/>
        </p:nvSpPr>
        <p:spPr>
          <a:xfrm>
            <a:off x="5257800" y="246888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Talk to the whole buying group</a:t>
            </a:r>
            <a:endParaRPr lang="en-US" sz="1300" dirty="0"/>
          </a:p>
        </p:txBody>
      </p:sp>
      <p:sp>
        <p:nvSpPr>
          <p:cNvPr id="15" name="Text 13"/>
          <p:cNvSpPr txBox="1"/>
          <p:nvPr/>
        </p:nvSpPr>
        <p:spPr>
          <a:xfrm>
            <a:off x="5257800" y="279806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Know what procurement, IT and management each care about.</a:t>
            </a:r>
            <a:endParaRPr lang="en-US" sz="1100" dirty="0"/>
          </a:p>
        </p:txBody>
      </p:sp>
      <p:sp>
        <p:nvSpPr>
          <p:cNvPr id="16" name="Text 14"/>
          <p:cNvSpPr txBox="1"/>
          <p:nvPr/>
        </p:nvSpPr>
        <p:spPr>
          <a:xfrm>
            <a:off x="457200" y="352044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05</a:t>
            </a:r>
            <a:endParaRPr lang="en-US" sz="2400" dirty="0"/>
          </a:p>
        </p:txBody>
      </p:sp>
      <p:sp>
        <p:nvSpPr>
          <p:cNvPr id="17" name="Text 15"/>
          <p:cNvSpPr txBox="1"/>
          <p:nvPr/>
        </p:nvSpPr>
        <p:spPr>
          <a:xfrm>
            <a:off x="1051560" y="352044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Decide with a budget that cannot fund everything</a:t>
            </a:r>
            <a:endParaRPr lang="en-US" sz="1300" dirty="0"/>
          </a:p>
        </p:txBody>
      </p:sp>
      <p:sp>
        <p:nvSpPr>
          <p:cNvPr id="18" name="Text 16"/>
          <p:cNvSpPr txBox="1"/>
          <p:nvPr/>
        </p:nvSpPr>
        <p:spPr>
          <a:xfrm>
            <a:off x="1051560" y="384962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Choose, say openly what you leave out, name the owners.</a:t>
            </a:r>
            <a:endParaRPr lang="en-US" sz="1100" dirty="0"/>
          </a:p>
        </p:txBody>
      </p:sp>
      <p:sp>
        <p:nvSpPr>
          <p:cNvPr id="19" name="Text 17"/>
          <p:cNvSpPr txBox="1"/>
          <p:nvPr/>
        </p:nvSpPr>
        <p:spPr>
          <a:xfrm>
            <a:off x="4663440" y="3520440"/>
            <a:ext cx="548640" cy="457200"/>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06</a:t>
            </a:r>
            <a:endParaRPr lang="en-US" sz="2400" dirty="0"/>
          </a:p>
        </p:txBody>
      </p:sp>
      <p:sp>
        <p:nvSpPr>
          <p:cNvPr id="20" name="Text 18"/>
          <p:cNvSpPr txBox="1"/>
          <p:nvPr/>
        </p:nvSpPr>
        <p:spPr>
          <a:xfrm>
            <a:off x="5257800" y="3520440"/>
            <a:ext cx="347472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Leave with six reusable documents</a:t>
            </a:r>
            <a:endParaRPr lang="en-US" sz="1300" dirty="0"/>
          </a:p>
        </p:txBody>
      </p:sp>
      <p:sp>
        <p:nvSpPr>
          <p:cNvPr id="21" name="Text 19"/>
          <p:cNvSpPr txBox="1"/>
          <p:nvPr/>
        </p:nvSpPr>
        <p:spPr>
          <a:xfrm>
            <a:off x="5257800" y="3849624"/>
            <a:ext cx="3474720" cy="548640"/>
          </a:xfrm>
          <a:prstGeom prst="rect">
            <a:avLst/>
          </a:prstGeom>
          <a:noFill/>
          <a:ln/>
        </p:spPr>
        <p:txBody>
          <a:bodyPr wrap="square" lIns="0" tIns="0" rIns="0" bIns="0" rtlCol="0" anchor="t"/>
          <a:lstStyle/>
          <a:p>
            <a:pPr indent="0" marL="0">
              <a:buNone/>
            </a:pPr>
            <a:r>
              <a:rPr lang="en-US" sz="1100" dirty="0">
                <a:solidFill>
                  <a:srgbClr val="59606A"/>
                </a:solidFill>
                <a:latin typeface="Calibri" pitchFamily="34" charset="0"/>
                <a:ea typeface="Calibri" pitchFamily="34" charset="-122"/>
                <a:cs typeface="Calibri" pitchFamily="34" charset="-120"/>
              </a:rPr>
              <a:t>Diagnostic Note, Calculation Note and Decision Memo, for both days.</a:t>
            </a:r>
            <a:endParaRPr lang="en-US" sz="11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9606A"/>
                </a:solidFill>
                <a:latin typeface="Calibri" pitchFamily="34" charset="0"/>
                <a:ea typeface="Calibri" pitchFamily="34" charset="-122"/>
                <a:cs typeface="Calibri" pitchFamily="34" charset="-120"/>
              </a:rPr>
              <a:t>Module 1 · Customer Retention &amp; Buying Behaviour in B2B IT Sales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72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822960"/>
            <a:ext cx="548640" cy="548640"/>
          </a:xfrm>
          <a:prstGeom prst="rect">
            <a:avLst/>
          </a:prstGeom>
        </p:spPr>
      </p:pic>
      <p:sp>
        <p:nvSpPr>
          <p:cNvPr id="3" name="Text 0"/>
          <p:cNvSpPr txBox="1"/>
          <p:nvPr/>
        </p:nvSpPr>
        <p:spPr>
          <a:xfrm>
            <a:off x="548640" y="1463040"/>
            <a:ext cx="7863840" cy="12801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Let's start with a customer who rated us 4 out of 5, and left anyway.</a:t>
            </a:r>
            <a:endParaRPr lang="en-US" sz="3000" dirty="0"/>
          </a:p>
        </p:txBody>
      </p:sp>
      <p:sp>
        <p:nvSpPr>
          <p:cNvPr id="4" name="Text 1"/>
          <p:cNvSpPr txBox="1"/>
          <p:nvPr/>
        </p:nvSpPr>
        <p:spPr>
          <a:xfrm>
            <a:off x="548640" y="2834640"/>
            <a:ext cx="5486400" cy="365760"/>
          </a:xfrm>
          <a:prstGeom prst="rect">
            <a:avLst/>
          </a:prstGeom>
          <a:noFill/>
          <a:ln/>
        </p:spPr>
        <p:txBody>
          <a:bodyPr wrap="square" lIns="0" tIns="0" rIns="0" bIns="0" rtlCol="0" anchor="ctr"/>
          <a:lstStyle/>
          <a:p>
            <a:pPr indent="0" marL="0">
              <a:buNone/>
            </a:pPr>
            <a:r>
              <a:rPr lang="en-US" sz="1600" b="1" dirty="0">
                <a:solidFill>
                  <a:srgbClr val="D99A2B"/>
                </a:solidFill>
                <a:latin typeface="Calibri" pitchFamily="34" charset="0"/>
                <a:ea typeface="Calibri" pitchFamily="34" charset="-122"/>
                <a:cs typeface="Calibri" pitchFamily="34" charset="-120"/>
              </a:rPr>
              <a:t>Open Route 1 · Materi A</a:t>
            </a:r>
            <a:endParaRPr lang="en-US" sz="1600" dirty="0"/>
          </a:p>
        </p:txBody>
      </p:sp>
      <p:sp>
        <p:nvSpPr>
          <p:cNvPr id="5" name="Text 2"/>
          <p:cNvSpPr txBox="1"/>
          <p:nvPr/>
        </p:nvSpPr>
        <p:spPr>
          <a:xfrm>
            <a:off x="548640" y="3931920"/>
            <a:ext cx="54864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Muhammad Muchson Attoyibi</a:t>
            </a:r>
            <a:endParaRPr lang="en-US" sz="1200" dirty="0"/>
          </a:p>
          <a:p>
            <a:pPr indent="0" marL="0">
              <a:buNone/>
            </a:pPr>
            <a:r>
              <a:rPr lang="en-US" sz="1200" dirty="0">
                <a:solidFill>
                  <a:srgbClr val="B8BEC6"/>
                </a:solidFill>
                <a:latin typeface="Calibri" pitchFamily="34" charset="0"/>
                <a:ea typeface="Calibri" pitchFamily="34" charset="-122"/>
                <a:cs typeface="Calibri" pitchFamily="34" charset="-120"/>
              </a:rPr>
              <a:t>linkedin.com/in/muhammad-muchson-attoyibi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 the Customer After Go-Live — Module 1</dc:title>
  <dc:subject>PptxGenJS Presentation</dc:subject>
  <dc:creator>Muhammad Muchson Attoyibi</dc:creator>
  <cp:lastModifiedBy>Muhammad Muchson Attoyibi</cp:lastModifiedBy>
  <cp:revision>1</cp:revision>
  <dcterms:created xsi:type="dcterms:W3CDTF">2026-09-24T05:38:24Z</dcterms:created>
  <dcterms:modified xsi:type="dcterms:W3CDTF">2026-09-24T05:38:24Z</dcterms:modified>
</cp:coreProperties>
</file>